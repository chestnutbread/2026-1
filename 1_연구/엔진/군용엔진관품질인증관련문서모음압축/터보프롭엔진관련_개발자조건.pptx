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34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34911-6636-8840-BA69-5FB264D59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B30D5-FF08-F7B9-5422-9C92B0494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23E9C-0FCB-B546-80E8-703DB831B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F472B-76B9-8298-1FAD-3087144AC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3CC24-EE55-3FF5-98E6-5B89EEC25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58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CAFA2-3530-DD71-9E66-75F2E20AC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775BF-CFC9-E2B5-8534-C95F8F1A5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139C3-0AC4-AFEA-072A-ACD30FEF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F2D50-EAC6-7B19-C4B5-4259E3284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7B8B5-5BDB-9874-9C50-B7710D96C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2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73527-3FCF-BC0B-89E0-5251A1D14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50855-7D66-51DF-93B3-0935AFC0C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1CD97-866A-ECB8-EEAB-92C808330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1669D-22ED-89AA-BDBB-74149B36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1E3D7-1BEB-2B2F-C825-F56327AD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4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EE9E-8F2E-1076-2CFD-526F7BC7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CDFDA-8A2D-B6BF-98D5-7D4253593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9CC68-75C3-EDD0-2D67-082649880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60317-F261-48AC-8A14-162228738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5FF91-7784-EC97-AFD5-C9BB1DD00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A6FFD-F888-6EDF-E326-DA11BB77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42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B39EB-F5D5-0DDC-0BB9-59099742E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AFEA5-DE07-38D3-3D85-588820452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2572F-19F6-10FB-CFC9-281E53005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F11F-C712-6502-C1F9-487677F145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C0843-386A-DF5C-CADE-A9622DECD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1B875C-8788-5EA2-14A4-AC9937136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637B2-F1FF-2E43-EF56-5DB7C352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6B008C-16C2-6BD5-C971-D7BD7D11C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5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8183B-BAD8-6642-C732-596F9AB2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2C10E5-1515-A662-DEE3-934DA7FA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87D33-FFC7-DA04-059D-81B28BD2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FA70E-6010-4FAC-B9EB-84B141C9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819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D4BB-1406-C0AD-F886-38A335E0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BD1AB-FF3E-42D3-086C-F7C124CC6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F7A35-1B69-9470-F6C7-72051CDD3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43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94E1F-B5C5-E71D-EED3-005757966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F3186-69D1-7513-3F36-ED1EA0A43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577681-7E70-97A4-01F6-E76EF60F7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34EBB-A90F-6D5C-5941-2E70D094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E517C-EEAC-F3FD-FA0C-3E63D361D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4EED6-1F91-A58B-0254-4E67DA007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29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97879-E420-77AE-5B0E-615E31B5B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070BF-BB3B-07EA-47CE-AFA689C127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B876B-3325-5CA3-17AB-AC45AEBB9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F293F-6899-A0FC-3327-6ECCAE35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D20CE-6BDD-C446-A6B5-1DEE0651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CC4DA-3F0B-56C4-E388-D2F92A3E6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0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D14AC-29B2-19E2-1153-BF9D7258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FD6DD-2DE1-8598-FA96-74666290B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68F9E-66DB-1875-9946-220DAF1CE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70D0B-569E-B45E-2040-028F80AFE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B2AF9-4DFC-1188-289A-A09DD568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89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7049F-44FC-08F5-07BF-9094D0D2C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11035-0570-B488-2350-061B9C606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0C42A-D531-54DD-513D-68D2CB7D0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C8B46-4294-F9AF-95C5-227BD5558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56C69-874D-ABDB-CEF3-4A3705A10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9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62A249-12E4-77D7-A0B9-DA1E1D8B4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E5B33-B37C-68AF-B316-062F28D47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97B00-692F-D8C8-C531-096EC7F5E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0ED3F-4056-442D-8589-DE15B7961581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2C672-9C4E-0C9C-1A07-3BC43F21D3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88976-D45B-EBBD-EC0C-0514DE4D9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27701-D389-4437-BD95-0BF943AB9A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57">
            <a:extLst>
              <a:ext uri="{FF2B5EF4-FFF2-40B4-BE49-F238E27FC236}">
                <a16:creationId xmlns:a16="http://schemas.microsoft.com/office/drawing/2014/main" id="{017C5BB6-50FC-4158-A633-CE650EE83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99171" cy="68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0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58726-F333-0A1D-81C6-A96F15467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E119CE-B055-2CF6-808E-CB84BED2C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699" y="-1080933"/>
            <a:ext cx="5420759" cy="1000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505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6D4DD-89AF-0536-2B58-5F1D0CA1C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59">
            <a:extLst>
              <a:ext uri="{FF2B5EF4-FFF2-40B4-BE49-F238E27FC236}">
                <a16:creationId xmlns:a16="http://schemas.microsoft.com/office/drawing/2014/main" id="{EE3063AE-4749-49EC-AC30-1B1BC8415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755086" cy="687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41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2E072-A6A2-B9E2-15C7-1C2D9E141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0">
            <a:extLst>
              <a:ext uri="{FF2B5EF4-FFF2-40B4-BE49-F238E27FC236}">
                <a16:creationId xmlns:a16="http://schemas.microsoft.com/office/drawing/2014/main" id="{7E75A6FB-BA1A-4163-95C3-239E6D401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48"/>
            <a:ext cx="11859891" cy="634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06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4DB0-A932-E535-948E-E3E357797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1">
            <a:extLst>
              <a:ext uri="{FF2B5EF4-FFF2-40B4-BE49-F238E27FC236}">
                <a16:creationId xmlns:a16="http://schemas.microsoft.com/office/drawing/2014/main" id="{368CD62B-AAF2-486F-827F-32F69D0B1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6500264" cy="1796143"/>
          </a:xfrm>
          <a:prstGeom prst="rect">
            <a:avLst/>
          </a:prstGeom>
        </p:spPr>
      </p:pic>
      <p:pic>
        <p:nvPicPr>
          <p:cNvPr id="3" name="그림 62">
            <a:extLst>
              <a:ext uri="{FF2B5EF4-FFF2-40B4-BE49-F238E27FC236}">
                <a16:creationId xmlns:a16="http://schemas.microsoft.com/office/drawing/2014/main" id="{BCCFA1CC-9482-4EE9-92B4-18EC3582C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2" y="1796141"/>
            <a:ext cx="11491052" cy="1360715"/>
          </a:xfrm>
          <a:prstGeom prst="rect">
            <a:avLst/>
          </a:prstGeom>
        </p:spPr>
      </p:pic>
      <p:pic>
        <p:nvPicPr>
          <p:cNvPr id="4" name="그림 63">
            <a:extLst>
              <a:ext uri="{FF2B5EF4-FFF2-40B4-BE49-F238E27FC236}">
                <a16:creationId xmlns:a16="http://schemas.microsoft.com/office/drawing/2014/main" id="{ED498D69-C1B4-4F36-8180-69B2E0404A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2902531"/>
            <a:ext cx="9644971" cy="1625925"/>
          </a:xfrm>
          <a:prstGeom prst="rect">
            <a:avLst/>
          </a:prstGeom>
        </p:spPr>
      </p:pic>
      <p:pic>
        <p:nvPicPr>
          <p:cNvPr id="5" name="그림 64">
            <a:extLst>
              <a:ext uri="{FF2B5EF4-FFF2-40B4-BE49-F238E27FC236}">
                <a16:creationId xmlns:a16="http://schemas.microsoft.com/office/drawing/2014/main" id="{D3E25E3D-4731-473A-BD24-4D3BDDBCA8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92" y="4435378"/>
            <a:ext cx="9252762" cy="1360715"/>
          </a:xfrm>
          <a:prstGeom prst="rect">
            <a:avLst/>
          </a:prstGeom>
        </p:spPr>
      </p:pic>
      <p:pic>
        <p:nvPicPr>
          <p:cNvPr id="6" name="그림 65">
            <a:extLst>
              <a:ext uri="{FF2B5EF4-FFF2-40B4-BE49-F238E27FC236}">
                <a16:creationId xmlns:a16="http://schemas.microsoft.com/office/drawing/2014/main" id="{4B9972B9-DD08-4A26-B6AB-81401BEB46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92" y="5634845"/>
            <a:ext cx="10234621" cy="203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68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BBF20-D166-3920-C19C-850D0FE43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6">
            <a:extLst>
              <a:ext uri="{FF2B5EF4-FFF2-40B4-BE49-F238E27FC236}">
                <a16:creationId xmlns:a16="http://schemas.microsoft.com/office/drawing/2014/main" id="{ABC5FE3A-1DEB-4618-AAA3-21680F341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123714" cy="676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7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8886B-96EC-B33B-2A06-18B5D111C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7">
            <a:extLst>
              <a:ext uri="{FF2B5EF4-FFF2-40B4-BE49-F238E27FC236}">
                <a16:creationId xmlns:a16="http://schemas.microsoft.com/office/drawing/2014/main" id="{2CE622C9-B49B-4DDD-B13A-7DC49221D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53223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670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459E8-5DB6-1337-F1CC-D52572F0C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68">
            <a:extLst>
              <a:ext uri="{FF2B5EF4-FFF2-40B4-BE49-F238E27FC236}">
                <a16:creationId xmlns:a16="http://schemas.microsoft.com/office/drawing/2014/main" id="{DF41B785-4D56-42EF-AF09-EF136BF1E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10800" cy="666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267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2AA29-414A-75F3-0E50-7CF41FBA4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35134CE-3509-466C-9E4E-70F38C308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361714" cy="677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72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8BDDC-1377-4562-37DD-81428EF5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>
            <a:extLst>
              <a:ext uri="{FF2B5EF4-FFF2-40B4-BE49-F238E27FC236}">
                <a16:creationId xmlns:a16="http://schemas.microsoft.com/office/drawing/2014/main" id="{1FE6F57F-2125-45DB-A424-5B267255F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5" y="0"/>
            <a:ext cx="9277686" cy="649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13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821B85-F9D0-3943-E22E-1036DA79D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9412" y="-2361965"/>
            <a:ext cx="13239432" cy="1011259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495289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7">
            <a:extLst>
              <a:ext uri="{FF2B5EF4-FFF2-40B4-BE49-F238E27FC236}">
                <a16:creationId xmlns:a16="http://schemas.microsoft.com/office/drawing/2014/main" id="{6D692A70-7DC1-42B6-BC1F-5DBCC86DE87D}"/>
              </a:ext>
            </a:extLst>
          </p:cNvPr>
          <p:cNvSpPr/>
          <p:nvPr/>
        </p:nvSpPr>
        <p:spPr>
          <a:xfrm>
            <a:off x="156809" y="-2030227"/>
            <a:ext cx="12437962" cy="1435373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ko-KR"/>
            </a:defPPr>
            <a:lvl1pPr marL="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Missionized Durability Test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는 실제 비행 임무를 모사하여 내구성을 검증하는 테스트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목표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엔진이 실제 임무 환경에서 겪는 다양한 부하 조건과 열 피로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(thermal fatigue)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에 얼마나 잘 견디는지를 확인하는 데 중점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특징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테스트는 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Table XL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처럼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이륙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순항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지상 작동 등 여러 임무 프로파일을 포함하며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엔진에 가해지는 다양한 스트레스 조합을 검증하기 위한 것임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다양한 운전 조건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과 </a:t>
            </a: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열 피로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가 엔진 부품에 미치는 영향을 검증하는 데 효과적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Cyclic Durability Test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는 특정 운전 조건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예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최대 출력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을 반복하며 내구성을 확인하는 테스트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목표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엔진의 특정 부품들이 가장 가혹한 운전 조건에서 얼마나 잘 견디는지를 확인하는 데 초점을 맞춤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특징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문서의 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Table XXIX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처럼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'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최대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유휴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(Maximum-idle)'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운전처럼 엔진에 큰 부하를 주는 주기를 반복해서 부품의 내구성을 확인하는 방식임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기계적인 피로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가 엔진 부품에 미치는 영향을 검증하는 데 효과적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MDT와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CDT의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테스트 프로파일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AMT가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주로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터보팬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/터보제트 엔진의 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비행 임무(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mission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profile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”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를 기반으로 한다면,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MDT와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CDT는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터보프롭/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터보샤프트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엔진의 운용 특성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을 반영하여 프로파일을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만</a:t>
            </a:r>
            <a:r>
              <a:rPr lang="ko-KR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듬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Missionized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Durability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(MDT)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터보프롭/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터보샤프트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엔진이 실제로 수행하는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임무 프로파일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을 모사. 예를 들어, 헬리콥터가 이륙, 순항, 지상 작동을 할 때 엔진이 겪는 다양한 부하 조건과 작동 시간을 반영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함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문서의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Figure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21e처럼, 여러 출력 설정과 시간을 조합하여 하나의 임무 주기를 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만들 수 있음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Cyclic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Durability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(CDT)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이 테스트는 특정 부품이 겪는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가장 가혹하고 반복적인 스트레스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를 집중적으로 검증하는 데 목적이 있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음</a:t>
            </a:r>
            <a:r>
              <a:rPr kumimoji="0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문서의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XXIX에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나와 있는 것처럼, '최대 출력(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Maximum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)-유휴(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idle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운전'처럼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엔진에 큰 부하를 주는 주기를 반복적으로 가동하는 방식</a:t>
            </a: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임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※ MDT, CDT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프로파일을 만드는 과정에 </a:t>
            </a: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비행체의 임무 조건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이 반영되지만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접근 방식이 조금 다르다고 볼 수 있음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임무 분석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먼저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터보프롭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터보샤프트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엔진이 사용될 비행체의 임무를 분석해야 함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b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     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예를 들어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헬기라면 이착륙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호버링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정지 비행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지상 활주</a:t>
            </a: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비행 등 다양한 운용 모드를 고려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 2. </a:t>
            </a: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테스트 조건 설정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이 분석을 바탕으로 각 운용 모드에서 엔진에 어떤 종류의 스트레스가 가해지는지 분석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프로파일 구성</a:t>
            </a: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    . MDT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는 이 다양한 운용 모드들을 조합하여 </a:t>
            </a: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실제 임무와 유사한 복합적인 주기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를 구성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latin typeface="Calibri" panose="020F0502020204030204" pitchFamily="34" charset="0"/>
                <a:cs typeface="Calibri" panose="020F0502020204030204" pitchFamily="34" charset="0"/>
              </a:rPr>
              <a:t>        . CDT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는 이 중에서 </a:t>
            </a:r>
            <a:r>
              <a:rPr lang="ko-KR" alt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가장 가혹한 스트레스를 주는 특정 운전 모드</a:t>
            </a:r>
            <a:r>
              <a:rPr lang="ko-KR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를 반복적으로 가동하는 주기를 구성</a:t>
            </a:r>
            <a:endParaRPr lang="en-US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499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400</Words>
  <Application>Microsoft Office PowerPoint</Application>
  <PresentationFormat>Widescreen</PresentationFormat>
  <Paragraphs>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Sungwook Cho</dc:creator>
  <cp:lastModifiedBy>Sungwook Cho</cp:lastModifiedBy>
  <cp:revision>2</cp:revision>
  <dcterms:created xsi:type="dcterms:W3CDTF">2026-03-29T12:32:29Z</dcterms:created>
  <dcterms:modified xsi:type="dcterms:W3CDTF">2026-03-29T14:28:06Z</dcterms:modified>
</cp:coreProperties>
</file>