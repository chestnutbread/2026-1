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12D"/>
    <a:srgbClr val="D6DCE5"/>
    <a:srgbClr val="1E2731"/>
    <a:srgbClr val="212934"/>
    <a:srgbClr val="CED4D4"/>
    <a:srgbClr val="0A14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8" autoAdjust="0"/>
    <p:restoredTop sz="94061" autoAdjust="0"/>
  </p:normalViewPr>
  <p:slideViewPr>
    <p:cSldViewPr snapToGrid="0">
      <p:cViewPr>
        <p:scale>
          <a:sx n="150" d="100"/>
          <a:sy n="150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1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87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8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7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07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8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7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9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9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7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40F68460-CA66-F575-B82C-A1FA880FF6CC}"/>
              </a:ext>
            </a:extLst>
          </p:cNvPr>
          <p:cNvGrpSpPr/>
          <p:nvPr/>
        </p:nvGrpSpPr>
        <p:grpSpPr>
          <a:xfrm>
            <a:off x="2356401" y="2059709"/>
            <a:ext cx="7368032" cy="2643165"/>
            <a:chOff x="2356401" y="2059709"/>
            <a:chExt cx="7368032" cy="2643165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CD61A205-F424-3678-98EA-47BF57E63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33170" b="1819"/>
            <a:stretch>
              <a:fillRect/>
            </a:stretch>
          </p:blipFill>
          <p:spPr>
            <a:xfrm>
              <a:off x="7484036" y="2214600"/>
              <a:ext cx="1434539" cy="588131"/>
            </a:xfrm>
            <a:prstGeom prst="rect">
              <a:avLst/>
            </a:prstGeom>
          </p:spPr>
        </p:pic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2F28D695-DA8E-AC02-0958-DCF489297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4036" y="2862264"/>
              <a:ext cx="2146573" cy="1319046"/>
            </a:xfrm>
            <a:prstGeom prst="rect">
              <a:avLst/>
            </a:prstGeom>
          </p:spPr>
        </p:pic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BE385650-F968-4D93-F73D-DD8A01732491}"/>
                </a:ext>
              </a:extLst>
            </p:cNvPr>
            <p:cNvSpPr/>
            <p:nvPr/>
          </p:nvSpPr>
          <p:spPr>
            <a:xfrm>
              <a:off x="2356401" y="2059709"/>
              <a:ext cx="2305050" cy="2253674"/>
            </a:xfrm>
            <a:prstGeom prst="roundRect">
              <a:avLst>
                <a:gd name="adj" fmla="val 8252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D9D112E-29EF-7E16-52EA-D87A8B4225F7}"/>
                </a:ext>
              </a:extLst>
            </p:cNvPr>
            <p:cNvSpPr/>
            <p:nvPr/>
          </p:nvSpPr>
          <p:spPr>
            <a:xfrm>
              <a:off x="4887892" y="2059709"/>
              <a:ext cx="2305050" cy="2253674"/>
            </a:xfrm>
            <a:prstGeom prst="roundRect">
              <a:avLst>
                <a:gd name="adj" fmla="val 8252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9A657DDD-816A-7503-8807-07E47AE4C53C}"/>
                </a:ext>
              </a:extLst>
            </p:cNvPr>
            <p:cNvSpPr/>
            <p:nvPr/>
          </p:nvSpPr>
          <p:spPr>
            <a:xfrm>
              <a:off x="7419383" y="2059709"/>
              <a:ext cx="2305050" cy="2253674"/>
            </a:xfrm>
            <a:prstGeom prst="roundRect">
              <a:avLst>
                <a:gd name="adj" fmla="val 8252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94E3655-97F7-C112-FED9-F0BE30941A68}"/>
                </a:ext>
              </a:extLst>
            </p:cNvPr>
            <p:cNvSpPr/>
            <p:nvPr/>
          </p:nvSpPr>
          <p:spPr>
            <a:xfrm>
              <a:off x="2356401" y="4313520"/>
              <a:ext cx="2305050" cy="389354"/>
            </a:xfrm>
            <a:prstGeom prst="roundRect">
              <a:avLst>
                <a:gd name="adj" fmla="val 8252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터보프롭 엔진 물리 구조 및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브레이턴</a:t>
              </a:r>
              <a:r>
                <a:rPr lang="ko-KR" altLang="en-US" sz="1000" dirty="0">
                  <a:solidFill>
                    <a:schemeClr val="tx1"/>
                  </a:solidFill>
                </a:rPr>
                <a:t> 사이클 해석</a:t>
              </a:r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18ECF583-6755-1A51-59AD-ED117F413CAF}"/>
                </a:ext>
              </a:extLst>
            </p:cNvPr>
            <p:cNvSpPr/>
            <p:nvPr/>
          </p:nvSpPr>
          <p:spPr>
            <a:xfrm>
              <a:off x="4887892" y="4313520"/>
              <a:ext cx="2305050" cy="389354"/>
            </a:xfrm>
            <a:prstGeom prst="roundRect">
              <a:avLst>
                <a:gd name="adj" fmla="val 8252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가상환경 기반 </a:t>
              </a:r>
              <a:r>
                <a:rPr lang="en-US" altLang="ko-KR" sz="1000" dirty="0">
                  <a:solidFill>
                    <a:schemeClr val="tx1"/>
                  </a:solidFill>
                </a:rPr>
                <a:t>AI-CBM+ </a:t>
              </a:r>
              <a:r>
                <a:rPr lang="ko-KR" altLang="en-US" sz="1000" dirty="0">
                  <a:solidFill>
                    <a:schemeClr val="tx1"/>
                  </a:solidFill>
                </a:rPr>
                <a:t>통합 연구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프로세스 및 검증 체계</a:t>
              </a: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DEF795A0-C0A7-E99E-E837-E879991CB12D}"/>
                </a:ext>
              </a:extLst>
            </p:cNvPr>
            <p:cNvSpPr/>
            <p:nvPr/>
          </p:nvSpPr>
          <p:spPr>
            <a:xfrm>
              <a:off x="7419383" y="4313520"/>
              <a:ext cx="2305050" cy="389354"/>
            </a:xfrm>
            <a:prstGeom prst="roundRect">
              <a:avLst>
                <a:gd name="adj" fmla="val 8252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운용 한계 기반 고장 재현 및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잔여수명 예측 모델 구현</a:t>
              </a: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557C26F0-2DC2-97E9-ADBA-E016177C7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8575" y="2214601"/>
              <a:ext cx="726621" cy="566700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9C294EAC-600F-7FF8-CE7F-23D6CE06F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4356" y="2283613"/>
              <a:ext cx="2212406" cy="184623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3232506-B6F0-2B09-58F2-BC81D9957475}"/>
                </a:ext>
              </a:extLst>
            </p:cNvPr>
            <p:cNvSpPr txBox="1"/>
            <p:nvPr/>
          </p:nvSpPr>
          <p:spPr>
            <a:xfrm>
              <a:off x="7796214" y="3420156"/>
              <a:ext cx="385761" cy="461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ko-KR" sz="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Hours</a:t>
              </a:r>
              <a:endParaRPr lang="ko-KR" altLang="en-US" sz="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1D25BC7-CB57-334E-8306-574DBB7E73AB}"/>
                </a:ext>
              </a:extLst>
            </p:cNvPr>
            <p:cNvSpPr txBox="1"/>
            <p:nvPr/>
          </p:nvSpPr>
          <p:spPr>
            <a:xfrm>
              <a:off x="7796214" y="4061147"/>
              <a:ext cx="385761" cy="461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ko-KR" sz="3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Hours</a:t>
              </a:r>
              <a:endParaRPr lang="ko-KR" altLang="en-US" sz="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33D3551-176D-B137-F111-D3F4EA05D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6804" y="2187434"/>
              <a:ext cx="1924243" cy="1302149"/>
            </a:xfrm>
            <a:prstGeom prst="rect">
              <a:avLst/>
            </a:prstGeom>
          </p:spPr>
        </p:pic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09F54E0D-A421-0583-0022-08725B20F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46803" y="3535747"/>
              <a:ext cx="1924243" cy="6773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965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4AA4D7CA-94F3-6906-29B2-124C02CF82B7}"/>
              </a:ext>
            </a:extLst>
          </p:cNvPr>
          <p:cNvGrpSpPr/>
          <p:nvPr/>
        </p:nvGrpSpPr>
        <p:grpSpPr>
          <a:xfrm>
            <a:off x="642784" y="383873"/>
            <a:ext cx="8984816" cy="4491633"/>
            <a:chOff x="642784" y="383873"/>
            <a:chExt cx="8984816" cy="4491633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EA1DE9F0-CC61-62F9-87E2-81965A3785C4}"/>
                </a:ext>
              </a:extLst>
            </p:cNvPr>
            <p:cNvSpPr/>
            <p:nvPr/>
          </p:nvSpPr>
          <p:spPr>
            <a:xfrm>
              <a:off x="642784" y="3379142"/>
              <a:ext cx="1783532" cy="82304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CBM+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의사결정 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지원 및 가상 검증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D5F35FE-D211-D62B-4B5D-6F6C43EC1828}"/>
                </a:ext>
              </a:extLst>
            </p:cNvPr>
            <p:cNvSpPr/>
            <p:nvPr/>
          </p:nvSpPr>
          <p:spPr>
            <a:xfrm>
              <a:off x="642784" y="2362613"/>
              <a:ext cx="1783532" cy="82304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AI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기반 이상 탐지 및 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RUL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예측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90B6BB5-C9F8-57DD-F670-17D023A9A2D7}"/>
                </a:ext>
              </a:extLst>
            </p:cNvPr>
            <p:cNvSpPr/>
            <p:nvPr/>
          </p:nvSpPr>
          <p:spPr>
            <a:xfrm>
              <a:off x="642784" y="1373243"/>
              <a:ext cx="1783532" cy="82304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고장 상황 재현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시뮬레이션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931D4C7-08DD-64DD-902A-249C8F61F86C}"/>
                </a:ext>
              </a:extLst>
            </p:cNvPr>
            <p:cNvSpPr/>
            <p:nvPr/>
          </p:nvSpPr>
          <p:spPr>
            <a:xfrm>
              <a:off x="642784" y="383873"/>
              <a:ext cx="1783532" cy="823042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입력 정보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3AA7AD7-57B7-1EA8-DF20-9526C661F731}"/>
                </a:ext>
              </a:extLst>
            </p:cNvPr>
            <p:cNvSpPr/>
            <p:nvPr/>
          </p:nvSpPr>
          <p:spPr>
            <a:xfrm>
              <a:off x="2633199" y="383873"/>
              <a:ext cx="2184804" cy="823042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엔진 제원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</a:p>
            <a:p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TPE331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계열 제원 및 구성품 성능 특성 반영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15C54E3-6F4C-BF73-73CC-5CBD938B1AAF}"/>
                </a:ext>
              </a:extLst>
            </p:cNvPr>
            <p:cNvSpPr/>
            <p:nvPr/>
          </p:nvSpPr>
          <p:spPr>
            <a:xfrm>
              <a:off x="5003598" y="383873"/>
              <a:ext cx="2184804" cy="823042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운용 조건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</a:p>
            <a:p>
              <a:r>
                <a:rPr lang="ko-KR" altLang="en-US" sz="1400" dirty="0" err="1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회전수∙출력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∙온도 등 운용 </a:t>
              </a:r>
              <a:r>
                <a:rPr lang="ko-KR" altLang="en-US" sz="1400" dirty="0" err="1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포락선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반영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398E39D-B5EC-1C85-BA34-454810AEB2E2}"/>
                </a:ext>
              </a:extLst>
            </p:cNvPr>
            <p:cNvSpPr/>
            <p:nvPr/>
          </p:nvSpPr>
          <p:spPr>
            <a:xfrm>
              <a:off x="7442796" y="383873"/>
              <a:ext cx="2184804" cy="823042"/>
            </a:xfrm>
            <a:prstGeom prst="round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고장 시나리오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</a:p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주요 열화 및 고장 모드 기반 시나리오 구성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A571FAB-C809-D532-0A0B-52DC4B0DBB76}"/>
                </a:ext>
              </a:extLst>
            </p:cNvPr>
            <p:cNvSpPr/>
            <p:nvPr/>
          </p:nvSpPr>
          <p:spPr>
            <a:xfrm>
              <a:off x="2633199" y="1373243"/>
              <a:ext cx="2184804" cy="823042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엔진 상태 변화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  <a:b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</a:b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구성품 열화에 따른 성능 변화 및 이상 징후 재현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C5D98B7-AE78-69B3-D883-BE268EA05085}"/>
                </a:ext>
              </a:extLst>
            </p:cNvPr>
            <p:cNvSpPr/>
            <p:nvPr/>
          </p:nvSpPr>
          <p:spPr>
            <a:xfrm>
              <a:off x="5003598" y="1373243"/>
              <a:ext cx="4624002" cy="823042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고장 상황 재현 시뮬레이션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</a:p>
            <a:p>
              <a:r>
                <a:rPr lang="ko-KR" altLang="en-US" sz="1400" dirty="0" err="1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운용∙고장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조건 반영 및 </a:t>
              </a:r>
              <a:r>
                <a:rPr lang="ko-KR" altLang="en-US" sz="1400" dirty="0" err="1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감항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요구조건 기반 상태 변화 재현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78DC770A-1378-F350-B96E-96526D1BE541}"/>
                </a:ext>
              </a:extLst>
            </p:cNvPr>
            <p:cNvSpPr/>
            <p:nvPr/>
          </p:nvSpPr>
          <p:spPr>
            <a:xfrm>
              <a:off x="2633199" y="2362613"/>
              <a:ext cx="3404403" cy="823042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이상 탐지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  <a:b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</a:b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미세 성능 저하 및 초기 이상 징후 조기 식별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0D355F9D-6E0C-4DEC-6DA2-FB45CA402BC1}"/>
                </a:ext>
              </a:extLst>
            </p:cNvPr>
            <p:cNvSpPr/>
            <p:nvPr/>
          </p:nvSpPr>
          <p:spPr>
            <a:xfrm>
              <a:off x="6223197" y="2362613"/>
              <a:ext cx="3404403" cy="823042"/>
            </a:xfrm>
            <a:prstGeom prst="roundRe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RUL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예측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</a:p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열화 진행 추세 기반 잔여수명 예측 및 검증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C67FAF5-DC7C-FBBB-EEED-F7779BCD2E94}"/>
                </a:ext>
              </a:extLst>
            </p:cNvPr>
            <p:cNvSpPr/>
            <p:nvPr/>
          </p:nvSpPr>
          <p:spPr>
            <a:xfrm>
              <a:off x="2633198" y="3351983"/>
              <a:ext cx="3404403" cy="823042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정비 판단 지원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  <a:b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</a:b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이상 탐지와 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RUL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결과를 활용한 정비 시점 판단 지원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14D264A7-E5CF-18BE-D9B8-202A6198FC98}"/>
                </a:ext>
              </a:extLst>
            </p:cNvPr>
            <p:cNvSpPr/>
            <p:nvPr/>
          </p:nvSpPr>
          <p:spPr>
            <a:xfrm>
              <a:off x="6223197" y="3351983"/>
              <a:ext cx="3404403" cy="823042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가상 검증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운용 활용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</a:p>
            <a:p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제어 로직 검증 및 임무 수행 가능성 검토로 확장</a:t>
              </a:r>
              <a:endParaRPr lang="en-US" altLang="ko-KR" sz="1400" dirty="0">
                <a:solidFill>
                  <a:schemeClr val="tx1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98C3D975-78B4-B0E5-17FB-0B51E8709952}"/>
                </a:ext>
              </a:extLst>
            </p:cNvPr>
            <p:cNvSpPr/>
            <p:nvPr/>
          </p:nvSpPr>
          <p:spPr>
            <a:xfrm>
              <a:off x="1539339" y="4368512"/>
              <a:ext cx="6995859" cy="50699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엔진 모델 구축 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→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고장 상황 재현 시뮬레이션 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→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이상 탐지∙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RUL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예측 </a:t>
              </a:r>
              <a:r>
                <a:rPr lang="en-US" altLang="ko-KR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→ CBM+ </a:t>
              </a:r>
              <a:r>
                <a:rPr lang="ko-KR" altLang="en-US" sz="1400" dirty="0">
                  <a:solidFill>
                    <a:schemeClr val="tx1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의사결정 지원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780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그림 74">
            <a:extLst>
              <a:ext uri="{FF2B5EF4-FFF2-40B4-BE49-F238E27FC236}">
                <a16:creationId xmlns:a16="http://schemas.microsoft.com/office/drawing/2014/main" id="{F9FF4C1D-F0C9-ECFB-8D0E-8AB4C71A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899" y="4474466"/>
            <a:ext cx="3402925" cy="2099865"/>
          </a:xfrm>
          <a:prstGeom prst="rect">
            <a:avLst/>
          </a:prstGeom>
        </p:spPr>
      </p:pic>
      <p:grpSp>
        <p:nvGrpSpPr>
          <p:cNvPr id="84" name="그룹 83">
            <a:extLst>
              <a:ext uri="{FF2B5EF4-FFF2-40B4-BE49-F238E27FC236}">
                <a16:creationId xmlns:a16="http://schemas.microsoft.com/office/drawing/2014/main" id="{92A5FF09-093E-EE52-23E5-F69C816D3271}"/>
              </a:ext>
            </a:extLst>
          </p:cNvPr>
          <p:cNvGrpSpPr/>
          <p:nvPr/>
        </p:nvGrpSpPr>
        <p:grpSpPr>
          <a:xfrm>
            <a:off x="10385767" y="238507"/>
            <a:ext cx="1482384" cy="4126679"/>
            <a:chOff x="7010284" y="1000125"/>
            <a:chExt cx="1482384" cy="4126679"/>
          </a:xfrm>
        </p:grpSpPr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8DFB1F27-AADA-BF86-AB20-E9A5898A3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2825" b="51968"/>
            <a:stretch>
              <a:fillRect/>
            </a:stretch>
          </p:blipFill>
          <p:spPr>
            <a:xfrm>
              <a:off x="7010284" y="1000125"/>
              <a:ext cx="1414580" cy="1004604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C0DA624B-F589-374E-95BC-78FBA9E06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22" b="51968"/>
            <a:stretch>
              <a:fillRect/>
            </a:stretch>
          </p:blipFill>
          <p:spPr>
            <a:xfrm>
              <a:off x="7033005" y="3077752"/>
              <a:ext cx="1459663" cy="1004604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6DD8CE43-6CA9-11EC-6EE1-CE3F67488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968" r="52643"/>
            <a:stretch>
              <a:fillRect/>
            </a:stretch>
          </p:blipFill>
          <p:spPr>
            <a:xfrm>
              <a:off x="7039301" y="4122200"/>
              <a:ext cx="1420029" cy="1004604"/>
            </a:xfrm>
            <a:prstGeom prst="rect">
              <a:avLst/>
            </a:prstGeom>
          </p:spPr>
        </p:pic>
        <p:pic>
          <p:nvPicPr>
            <p:cNvPr id="83" name="그림 82">
              <a:extLst>
                <a:ext uri="{FF2B5EF4-FFF2-40B4-BE49-F238E27FC236}">
                  <a16:creationId xmlns:a16="http://schemas.microsoft.com/office/drawing/2014/main" id="{F5D84982-9425-438C-1D67-8003BA195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22" t="51968"/>
            <a:stretch>
              <a:fillRect/>
            </a:stretch>
          </p:blipFill>
          <p:spPr>
            <a:xfrm>
              <a:off x="7028160" y="2052354"/>
              <a:ext cx="1459663" cy="1004604"/>
            </a:xfrm>
            <a:prstGeom prst="rect">
              <a:avLst/>
            </a:prstGeom>
          </p:spPr>
        </p:pic>
      </p:grp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1697AE9D-640D-3473-639A-1110D5ACBD7C}"/>
              </a:ext>
            </a:extLst>
          </p:cNvPr>
          <p:cNvSpPr/>
          <p:nvPr/>
        </p:nvSpPr>
        <p:spPr>
          <a:xfrm>
            <a:off x="323849" y="4333875"/>
            <a:ext cx="6048374" cy="2297690"/>
          </a:xfrm>
          <a:prstGeom prst="roundRect">
            <a:avLst>
              <a:gd name="adj" fmla="val 9421"/>
            </a:avLst>
          </a:prstGeom>
          <a:solidFill>
            <a:srgbClr val="D6DCE5"/>
          </a:solidFill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4484ECBC-EE70-5F23-D48E-ED45B65E8A02}"/>
              </a:ext>
            </a:extLst>
          </p:cNvPr>
          <p:cNvSpPr/>
          <p:nvPr/>
        </p:nvSpPr>
        <p:spPr>
          <a:xfrm>
            <a:off x="428624" y="4487139"/>
            <a:ext cx="1828801" cy="1957983"/>
          </a:xfrm>
          <a:prstGeom prst="roundRect">
            <a:avLst>
              <a:gd name="adj" fmla="val 9421"/>
            </a:avLst>
          </a:prstGeom>
          <a:solidFill>
            <a:schemeClr val="tx2">
              <a:lumMod val="75000"/>
            </a:schemeClr>
          </a:solidFill>
          <a:ln w="19050">
            <a:solidFill>
              <a:schemeClr val="bg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785D44C-5944-CC79-4B7E-4D0179E8AA9B}"/>
              </a:ext>
            </a:extLst>
          </p:cNvPr>
          <p:cNvSpPr txBox="1"/>
          <p:nvPr/>
        </p:nvSpPr>
        <p:spPr>
          <a:xfrm>
            <a:off x="642477" y="4521286"/>
            <a:ext cx="1408471" cy="27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</a:rPr>
              <a:t>Health Index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39E5A579-DF45-B8DE-BB4D-213F95762CD3}"/>
              </a:ext>
            </a:extLst>
          </p:cNvPr>
          <p:cNvGrpSpPr/>
          <p:nvPr/>
        </p:nvGrpSpPr>
        <p:grpSpPr>
          <a:xfrm>
            <a:off x="457197" y="4840027"/>
            <a:ext cx="1766323" cy="1549453"/>
            <a:chOff x="8105772" y="2157833"/>
            <a:chExt cx="2339478" cy="1144349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C5C73FD5-7DF4-D4CD-9AB3-5718CA44DC1E}"/>
                </a:ext>
              </a:extLst>
            </p:cNvPr>
            <p:cNvSpPr/>
            <p:nvPr/>
          </p:nvSpPr>
          <p:spPr>
            <a:xfrm>
              <a:off x="8108849" y="2472715"/>
              <a:ext cx="2336401" cy="829467"/>
            </a:xfrm>
            <a:prstGeom prst="roundRect">
              <a:avLst>
                <a:gd name="adj" fmla="val 9340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6ED8B00B-600E-39EF-8492-175488D8D6FF}"/>
                </a:ext>
              </a:extLst>
            </p:cNvPr>
            <p:cNvSpPr/>
            <p:nvPr/>
          </p:nvSpPr>
          <p:spPr>
            <a:xfrm>
              <a:off x="8105772" y="2157833"/>
              <a:ext cx="2336401" cy="5054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/>
            </a:p>
          </p:txBody>
        </p:sp>
      </p:grp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421394E-C61B-8AB8-F0EC-926D01ED66B3}"/>
              </a:ext>
            </a:extLst>
          </p:cNvPr>
          <p:cNvSpPr/>
          <p:nvPr/>
        </p:nvSpPr>
        <p:spPr>
          <a:xfrm>
            <a:off x="2433635" y="4487139"/>
            <a:ext cx="1828801" cy="1957983"/>
          </a:xfrm>
          <a:prstGeom prst="roundRect">
            <a:avLst>
              <a:gd name="adj" fmla="val 9421"/>
            </a:avLst>
          </a:prstGeom>
          <a:solidFill>
            <a:schemeClr val="tx2">
              <a:lumMod val="75000"/>
            </a:schemeClr>
          </a:solidFill>
          <a:ln w="19050">
            <a:solidFill>
              <a:schemeClr val="bg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DD74D52-1954-A3E9-7F3E-AA18D7A30C4A}"/>
              </a:ext>
            </a:extLst>
          </p:cNvPr>
          <p:cNvSpPr txBox="1"/>
          <p:nvPr/>
        </p:nvSpPr>
        <p:spPr>
          <a:xfrm>
            <a:off x="2592578" y="4521286"/>
            <a:ext cx="1503259" cy="27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</a:rPr>
              <a:t>Degradation Trend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04560E8-C9DB-FE6B-F6F9-742976C36501}"/>
              </a:ext>
            </a:extLst>
          </p:cNvPr>
          <p:cNvGrpSpPr/>
          <p:nvPr/>
        </p:nvGrpSpPr>
        <p:grpSpPr>
          <a:xfrm>
            <a:off x="2462208" y="4840027"/>
            <a:ext cx="1766323" cy="1549453"/>
            <a:chOff x="8105772" y="2157833"/>
            <a:chExt cx="2339478" cy="114434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6F51283A-3A1F-3CA3-DD5A-CEC552950F49}"/>
                </a:ext>
              </a:extLst>
            </p:cNvPr>
            <p:cNvSpPr/>
            <p:nvPr/>
          </p:nvSpPr>
          <p:spPr>
            <a:xfrm>
              <a:off x="8108849" y="2472715"/>
              <a:ext cx="2336401" cy="829467"/>
            </a:xfrm>
            <a:prstGeom prst="roundRect">
              <a:avLst>
                <a:gd name="adj" fmla="val 9340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AC9B51B-5EA2-9F74-2FD4-B1B23DFDA6F9}"/>
                </a:ext>
              </a:extLst>
            </p:cNvPr>
            <p:cNvSpPr/>
            <p:nvPr/>
          </p:nvSpPr>
          <p:spPr>
            <a:xfrm>
              <a:off x="8105772" y="2157833"/>
              <a:ext cx="2336401" cy="5054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/>
            </a:p>
          </p:txBody>
        </p:sp>
      </p:grp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61EE39C-E865-D7B7-4593-17FE8A3ACF2B}"/>
              </a:ext>
            </a:extLst>
          </p:cNvPr>
          <p:cNvSpPr/>
          <p:nvPr/>
        </p:nvSpPr>
        <p:spPr>
          <a:xfrm>
            <a:off x="4433885" y="4487139"/>
            <a:ext cx="1828801" cy="1957983"/>
          </a:xfrm>
          <a:prstGeom prst="roundRect">
            <a:avLst>
              <a:gd name="adj" fmla="val 9421"/>
            </a:avLst>
          </a:prstGeom>
          <a:solidFill>
            <a:schemeClr val="tx2">
              <a:lumMod val="75000"/>
            </a:schemeClr>
          </a:solidFill>
          <a:ln w="19050">
            <a:solidFill>
              <a:schemeClr val="bg2">
                <a:lumMod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08D0DA6-F45B-5940-7CB9-B5C8F2FC3A62}"/>
              </a:ext>
            </a:extLst>
          </p:cNvPr>
          <p:cNvSpPr txBox="1"/>
          <p:nvPr/>
        </p:nvSpPr>
        <p:spPr>
          <a:xfrm>
            <a:off x="4647738" y="4521286"/>
            <a:ext cx="1408471" cy="273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bg1"/>
                </a:solidFill>
              </a:rPr>
              <a:t>Anomaly Score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AC1E002-29FB-D007-E464-4578B52961C1}"/>
              </a:ext>
            </a:extLst>
          </p:cNvPr>
          <p:cNvGrpSpPr/>
          <p:nvPr/>
        </p:nvGrpSpPr>
        <p:grpSpPr>
          <a:xfrm>
            <a:off x="4462458" y="4840027"/>
            <a:ext cx="1766323" cy="1549453"/>
            <a:chOff x="8105772" y="2157833"/>
            <a:chExt cx="2339478" cy="1144349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F91CC77A-4F4B-67A8-9102-8595217A9F07}"/>
                </a:ext>
              </a:extLst>
            </p:cNvPr>
            <p:cNvSpPr/>
            <p:nvPr/>
          </p:nvSpPr>
          <p:spPr>
            <a:xfrm>
              <a:off x="8108849" y="2472715"/>
              <a:ext cx="2336401" cy="829467"/>
            </a:xfrm>
            <a:prstGeom prst="roundRect">
              <a:avLst>
                <a:gd name="adj" fmla="val 9340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5D1C8FB-2616-31AF-EF87-8EC4C3FA16F6}"/>
                </a:ext>
              </a:extLst>
            </p:cNvPr>
            <p:cNvSpPr/>
            <p:nvPr/>
          </p:nvSpPr>
          <p:spPr>
            <a:xfrm>
              <a:off x="8105772" y="2157833"/>
              <a:ext cx="2336401" cy="5054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/>
            </a:p>
          </p:txBody>
        </p:sp>
      </p:grpSp>
      <p:pic>
        <p:nvPicPr>
          <p:cNvPr id="104" name="그림 103">
            <a:extLst>
              <a:ext uri="{FF2B5EF4-FFF2-40B4-BE49-F238E27FC236}">
                <a16:creationId xmlns:a16="http://schemas.microsoft.com/office/drawing/2014/main" id="{8055CA43-C72B-8087-61B0-5E4505D7FB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445"/>
          <a:stretch>
            <a:fillRect/>
          </a:stretch>
        </p:blipFill>
        <p:spPr>
          <a:xfrm>
            <a:off x="216186" y="162158"/>
            <a:ext cx="2005011" cy="2161905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FBFEE41B-EDBD-3128-97FE-555176AA13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42" r="35703"/>
          <a:stretch>
            <a:fillRect/>
          </a:stretch>
        </p:blipFill>
        <p:spPr>
          <a:xfrm>
            <a:off x="2341701" y="154229"/>
            <a:ext cx="2005011" cy="216190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C936E4F8-A582-3220-F8D6-416BF9C221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128"/>
          <a:stretch>
            <a:fillRect/>
          </a:stretch>
        </p:blipFill>
        <p:spPr>
          <a:xfrm>
            <a:off x="4462458" y="144704"/>
            <a:ext cx="2157002" cy="21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04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68266F-48D9-B4DC-C388-AFC5575004A7}"/>
              </a:ext>
            </a:extLst>
          </p:cNvPr>
          <p:cNvSpPr/>
          <p:nvPr/>
        </p:nvSpPr>
        <p:spPr>
          <a:xfrm>
            <a:off x="1352551" y="123825"/>
            <a:ext cx="9944100" cy="66389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983E40D-D5BF-507D-25E1-1239585C467D}"/>
              </a:ext>
            </a:extLst>
          </p:cNvPr>
          <p:cNvSpPr/>
          <p:nvPr/>
        </p:nvSpPr>
        <p:spPr>
          <a:xfrm>
            <a:off x="1562099" y="253276"/>
            <a:ext cx="6324601" cy="6360969"/>
          </a:xfrm>
          <a:prstGeom prst="roundRect">
            <a:avLst>
              <a:gd name="adj" fmla="val 4490"/>
            </a:avLst>
          </a:prstGeom>
          <a:solidFill>
            <a:schemeClr val="bg1"/>
          </a:solidFill>
          <a:ln w="19050">
            <a:solidFill>
              <a:schemeClr val="bg2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0B996C1-C691-AEA2-F896-FC071AFE7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23" t="53699" r="10491" b="13238"/>
          <a:stretch>
            <a:fillRect/>
          </a:stretch>
        </p:blipFill>
        <p:spPr>
          <a:xfrm>
            <a:off x="1622608" y="827989"/>
            <a:ext cx="4393403" cy="3004834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5F3A6E2D-44AE-4CA7-3C59-FE21FD4CF355}"/>
              </a:ext>
            </a:extLst>
          </p:cNvPr>
          <p:cNvGrpSpPr/>
          <p:nvPr/>
        </p:nvGrpSpPr>
        <p:grpSpPr>
          <a:xfrm>
            <a:off x="8096248" y="272327"/>
            <a:ext cx="3000377" cy="1575517"/>
            <a:chOff x="8096248" y="253278"/>
            <a:chExt cx="2362201" cy="144606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6CE02F6C-140B-8AF2-4BC4-7619EFAE9F47}"/>
                </a:ext>
              </a:extLst>
            </p:cNvPr>
            <p:cNvSpPr/>
            <p:nvPr/>
          </p:nvSpPr>
          <p:spPr>
            <a:xfrm>
              <a:off x="8096248" y="253278"/>
              <a:ext cx="2362201" cy="1446068"/>
            </a:xfrm>
            <a:prstGeom prst="roundRect">
              <a:avLst>
                <a:gd name="adj" fmla="val 9421"/>
              </a:avLst>
            </a:prstGeom>
            <a:solidFill>
              <a:srgbClr val="D8012D"/>
            </a:solidFill>
            <a:ln w="19050">
              <a:solidFill>
                <a:srgbClr val="D8012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2BF5D9-FCA4-F562-A561-3C893E455059}"/>
                </a:ext>
              </a:extLst>
            </p:cNvPr>
            <p:cNvSpPr txBox="1"/>
            <p:nvPr/>
          </p:nvSpPr>
          <p:spPr>
            <a:xfrm>
              <a:off x="8372475" y="322285"/>
              <a:ext cx="181927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300" dirty="0">
                  <a:solidFill>
                    <a:schemeClr val="bg1"/>
                  </a:solidFill>
                </a:rPr>
                <a:t>Engine Status</a:t>
              </a:r>
              <a:endParaRPr lang="ko-KR" altLang="en-US" sz="1300" dirty="0">
                <a:solidFill>
                  <a:schemeClr val="bg1"/>
                </a:solidFill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8801267-BD66-C882-C728-6163FB6697DB}"/>
                </a:ext>
              </a:extLst>
            </p:cNvPr>
            <p:cNvGrpSpPr/>
            <p:nvPr/>
          </p:nvGrpSpPr>
          <p:grpSpPr>
            <a:xfrm>
              <a:off x="8115299" y="650299"/>
              <a:ext cx="2304000" cy="1008000"/>
              <a:chOff x="8105774" y="640774"/>
              <a:chExt cx="2352676" cy="1058572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C5DDE3A0-14D8-7310-511A-501AD1DE0BB9}"/>
                  </a:ext>
                </a:extLst>
              </p:cNvPr>
              <p:cNvSpPr/>
              <p:nvPr/>
            </p:nvSpPr>
            <p:spPr>
              <a:xfrm>
                <a:off x="8115300" y="828264"/>
                <a:ext cx="2343150" cy="871082"/>
              </a:xfrm>
              <a:prstGeom prst="roundRect">
                <a:avLst>
                  <a:gd name="adj" fmla="val 11718"/>
                </a:avLst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6841959F-8AA3-075A-47BF-E6E51E3D8371}"/>
                  </a:ext>
                </a:extLst>
              </p:cNvPr>
              <p:cNvSpPr/>
              <p:nvPr/>
            </p:nvSpPr>
            <p:spPr>
              <a:xfrm>
                <a:off x="8105774" y="640774"/>
                <a:ext cx="2352675" cy="5308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00"/>
              </a:p>
            </p:txBody>
          </p: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FA3B77B-8719-2576-463C-80AAAE659DA1}"/>
              </a:ext>
            </a:extLst>
          </p:cNvPr>
          <p:cNvGrpSpPr/>
          <p:nvPr/>
        </p:nvGrpSpPr>
        <p:grpSpPr>
          <a:xfrm>
            <a:off x="8096248" y="2059131"/>
            <a:ext cx="3000377" cy="1575516"/>
            <a:chOff x="8096248" y="1887681"/>
            <a:chExt cx="2362201" cy="144606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057C56A0-723F-E845-FAF7-F811DE20EA8D}"/>
                </a:ext>
              </a:extLst>
            </p:cNvPr>
            <p:cNvSpPr/>
            <p:nvPr/>
          </p:nvSpPr>
          <p:spPr>
            <a:xfrm>
              <a:off x="8096248" y="1887681"/>
              <a:ext cx="2362201" cy="1446068"/>
            </a:xfrm>
            <a:prstGeom prst="roundRect">
              <a:avLst>
                <a:gd name="adj" fmla="val 9421"/>
              </a:avLst>
            </a:prstGeom>
            <a:solidFill>
              <a:schemeClr val="tx2">
                <a:lumMod val="75000"/>
              </a:schemeClr>
            </a:solidFill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dirty="0">
                <a:solidFill>
                  <a:schemeClr val="tx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AF76F1-BAB3-C201-089D-79A0AA48C72A}"/>
                </a:ext>
              </a:extLst>
            </p:cNvPr>
            <p:cNvSpPr txBox="1"/>
            <p:nvPr/>
          </p:nvSpPr>
          <p:spPr>
            <a:xfrm>
              <a:off x="8372475" y="1956688"/>
              <a:ext cx="181927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300" dirty="0">
                  <a:solidFill>
                    <a:schemeClr val="bg1"/>
                  </a:solidFill>
                </a:rPr>
                <a:t>RUL</a:t>
              </a:r>
              <a:endParaRPr lang="ko-KR" altLang="en-US" sz="1300" dirty="0">
                <a:solidFill>
                  <a:schemeClr val="bg1"/>
                </a:solidFill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0FB19C3F-FA85-B2A8-23B9-08759CF95C15}"/>
                </a:ext>
              </a:extLst>
            </p:cNvPr>
            <p:cNvGrpSpPr/>
            <p:nvPr/>
          </p:nvGrpSpPr>
          <p:grpSpPr>
            <a:xfrm>
              <a:off x="8115299" y="2284702"/>
              <a:ext cx="2304000" cy="1008000"/>
              <a:chOff x="8105774" y="2294227"/>
              <a:chExt cx="2336400" cy="1008000"/>
            </a:xfrm>
          </p:grpSpPr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61922FFC-5B10-16E9-A89C-F0A56CC16655}"/>
                  </a:ext>
                </a:extLst>
              </p:cNvPr>
              <p:cNvSpPr/>
              <p:nvPr/>
            </p:nvSpPr>
            <p:spPr>
              <a:xfrm>
                <a:off x="8115234" y="2472760"/>
                <a:ext cx="2326940" cy="829467"/>
              </a:xfrm>
              <a:prstGeom prst="roundRect">
                <a:avLst>
                  <a:gd name="adj" fmla="val 11718"/>
                </a:avLst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851C635A-4044-3314-A3CE-79B60B442BFA}"/>
                  </a:ext>
                </a:extLst>
              </p:cNvPr>
              <p:cNvSpPr/>
              <p:nvPr/>
            </p:nvSpPr>
            <p:spPr>
              <a:xfrm>
                <a:off x="8105774" y="2294227"/>
                <a:ext cx="2336399" cy="5054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00"/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7796EBB-772C-4019-4CA4-3EE2C34A7DD2}"/>
              </a:ext>
            </a:extLst>
          </p:cNvPr>
          <p:cNvGrpSpPr/>
          <p:nvPr/>
        </p:nvGrpSpPr>
        <p:grpSpPr>
          <a:xfrm>
            <a:off x="8096248" y="3834963"/>
            <a:ext cx="3000378" cy="2725163"/>
            <a:chOff x="8096248" y="3482538"/>
            <a:chExt cx="2362202" cy="312218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A9B5C3C-BEE9-B8D9-C69B-C2E659D10C57}"/>
                </a:ext>
              </a:extLst>
            </p:cNvPr>
            <p:cNvGrpSpPr/>
            <p:nvPr/>
          </p:nvGrpSpPr>
          <p:grpSpPr>
            <a:xfrm>
              <a:off x="8096248" y="3491778"/>
              <a:ext cx="2362202" cy="3112943"/>
              <a:chOff x="8096248" y="3491778"/>
              <a:chExt cx="2362202" cy="3112943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D8B8CA5F-F965-7F94-7D4C-9FD5F0E32C39}"/>
                  </a:ext>
                </a:extLst>
              </p:cNvPr>
              <p:cNvSpPr/>
              <p:nvPr/>
            </p:nvSpPr>
            <p:spPr>
              <a:xfrm>
                <a:off x="8096248" y="3491778"/>
                <a:ext cx="2362202" cy="3112943"/>
              </a:xfrm>
              <a:prstGeom prst="roundRect">
                <a:avLst>
                  <a:gd name="adj" fmla="val 9421"/>
                </a:avLst>
              </a:prstGeom>
              <a:solidFill>
                <a:schemeClr val="tx2">
                  <a:lumMod val="75000"/>
                </a:schemeClr>
              </a:solidFill>
              <a:ln w="19050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00" dirty="0">
                  <a:solidFill>
                    <a:schemeClr val="tx1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2F8186A9-A3A8-BE55-6005-A7D12719EDEA}"/>
                  </a:ext>
                </a:extLst>
              </p:cNvPr>
              <p:cNvGrpSpPr/>
              <p:nvPr/>
            </p:nvGrpSpPr>
            <p:grpSpPr>
              <a:xfrm>
                <a:off x="8115299" y="4046909"/>
                <a:ext cx="2304000" cy="2520274"/>
                <a:chOff x="8105774" y="5552620"/>
                <a:chExt cx="2336400" cy="995510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7330F529-90DD-5B40-501E-9FB190AFE996}"/>
                    </a:ext>
                  </a:extLst>
                </p:cNvPr>
                <p:cNvSpPr/>
                <p:nvPr/>
              </p:nvSpPr>
              <p:spPr>
                <a:xfrm>
                  <a:off x="8115234" y="5718663"/>
                  <a:ext cx="2326940" cy="829467"/>
                </a:xfrm>
                <a:prstGeom prst="roundRect">
                  <a:avLst>
                    <a:gd name="adj" fmla="val 11861"/>
                  </a:avLst>
                </a:prstGeom>
                <a:solidFill>
                  <a:schemeClr val="bg1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00" dirty="0">
                    <a:solidFill>
                      <a:schemeClr val="tx1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ADC0DE22-880E-4262-A7A4-404FC05B81F7}"/>
                    </a:ext>
                  </a:extLst>
                </p:cNvPr>
                <p:cNvSpPr/>
                <p:nvPr/>
              </p:nvSpPr>
              <p:spPr>
                <a:xfrm>
                  <a:off x="8105774" y="5552620"/>
                  <a:ext cx="2336399" cy="4548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00"/>
                </a:p>
              </p:txBody>
            </p: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C1D2F7-4BEC-6343-3CC9-53095A0792F2}"/>
                </a:ext>
              </a:extLst>
            </p:cNvPr>
            <p:cNvSpPr txBox="1"/>
            <p:nvPr/>
          </p:nvSpPr>
          <p:spPr>
            <a:xfrm>
              <a:off x="8357660" y="3482538"/>
              <a:ext cx="181927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300" dirty="0">
                  <a:solidFill>
                    <a:schemeClr val="bg1"/>
                  </a:solidFill>
                </a:rPr>
                <a:t>Maintenance Recommendations</a:t>
              </a:r>
              <a:endParaRPr lang="ko-KR" altLang="en-US" sz="13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878C96F-D789-95D4-B115-5408CD987242}"/>
              </a:ext>
            </a:extLst>
          </p:cNvPr>
          <p:cNvGrpSpPr/>
          <p:nvPr/>
        </p:nvGrpSpPr>
        <p:grpSpPr>
          <a:xfrm>
            <a:off x="6025541" y="445572"/>
            <a:ext cx="1703612" cy="3551925"/>
            <a:chOff x="7026278" y="1000125"/>
            <a:chExt cx="1466390" cy="4126679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79F87A92-28EA-A2C8-7D19-0AD8B3255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2825" b="51968"/>
            <a:stretch>
              <a:fillRect/>
            </a:stretch>
          </p:blipFill>
          <p:spPr>
            <a:xfrm>
              <a:off x="7026278" y="1000125"/>
              <a:ext cx="1414580" cy="1004604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0C235A91-B891-EADB-40F5-00474D9BA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22" b="51968"/>
            <a:stretch>
              <a:fillRect/>
            </a:stretch>
          </p:blipFill>
          <p:spPr>
            <a:xfrm>
              <a:off x="7033005" y="3077752"/>
              <a:ext cx="1459663" cy="1004604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2411813D-4764-C981-685B-A453DD70B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968" r="52643"/>
            <a:stretch>
              <a:fillRect/>
            </a:stretch>
          </p:blipFill>
          <p:spPr>
            <a:xfrm>
              <a:off x="7039301" y="4122200"/>
              <a:ext cx="1420029" cy="1004604"/>
            </a:xfrm>
            <a:prstGeom prst="rect">
              <a:avLst/>
            </a:prstGeom>
          </p:spPr>
        </p:pic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5FE2A9DD-8BE3-9B4E-CCAA-6C92E20AC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22" t="51968"/>
            <a:stretch>
              <a:fillRect/>
            </a:stretch>
          </p:blipFill>
          <p:spPr>
            <a:xfrm>
              <a:off x="7028160" y="2052354"/>
              <a:ext cx="1459663" cy="1004604"/>
            </a:xfrm>
            <a:prstGeom prst="rect">
              <a:avLst/>
            </a:prstGeom>
          </p:spPr>
        </p:pic>
      </p:grpSp>
      <p:pic>
        <p:nvPicPr>
          <p:cNvPr id="3074" name="Picture 2" descr="경고 표시 벡터 - Freepik에서 무료 고품질 벡터를 다운로드하세요 | Freepik">
            <a:extLst>
              <a:ext uri="{FF2B5EF4-FFF2-40B4-BE49-F238E27FC236}">
                <a16:creationId xmlns:a16="http://schemas.microsoft.com/office/drawing/2014/main" id="{FBE387D7-8A6C-A8E1-3396-AA0364F42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2087" r="9722" b="51018"/>
          <a:stretch>
            <a:fillRect/>
          </a:stretch>
        </p:blipFill>
        <p:spPr bwMode="auto">
          <a:xfrm>
            <a:off x="8460094" y="834633"/>
            <a:ext cx="922031" cy="84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4C5EF9AD-0F7C-32AA-C4B5-E96D29A15337}"/>
              </a:ext>
            </a:extLst>
          </p:cNvPr>
          <p:cNvSpPr txBox="1"/>
          <p:nvPr/>
        </p:nvSpPr>
        <p:spPr>
          <a:xfrm>
            <a:off x="9439273" y="940482"/>
            <a:ext cx="1281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D8012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Warning!!</a:t>
            </a:r>
          </a:p>
          <a:p>
            <a:pPr algn="ctr"/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정비 필요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958022B6-99A0-5FCC-A27F-F2F63B97D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496" y="4608246"/>
            <a:ext cx="2678830" cy="1587455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2245DBF5-0D86-0CF7-C792-56467B5F9E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376" y="4165052"/>
            <a:ext cx="6066046" cy="2316681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1EF32C02-5A39-46C3-2AF0-F2BF371320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9445"/>
          <a:stretch>
            <a:fillRect/>
          </a:stretch>
        </p:blipFill>
        <p:spPr>
          <a:xfrm>
            <a:off x="2049217" y="4700231"/>
            <a:ext cx="1371522" cy="1478846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0E3FF745-BBF3-88D6-132F-F5DC4C7B5A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742" r="35703"/>
          <a:stretch>
            <a:fillRect/>
          </a:stretch>
        </p:blipFill>
        <p:spPr>
          <a:xfrm>
            <a:off x="4038638" y="4701182"/>
            <a:ext cx="1371522" cy="1478846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6C03177C-1264-F271-BBC7-BF0E508EE9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7128"/>
          <a:stretch>
            <a:fillRect/>
          </a:stretch>
        </p:blipFill>
        <p:spPr>
          <a:xfrm>
            <a:off x="5977916" y="4710596"/>
            <a:ext cx="1475491" cy="1478846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E0E29BD-5E09-0948-A048-0F29135384F8}"/>
              </a:ext>
            </a:extLst>
          </p:cNvPr>
          <p:cNvSpPr/>
          <p:nvPr/>
        </p:nvSpPr>
        <p:spPr>
          <a:xfrm>
            <a:off x="8343899" y="2819785"/>
            <a:ext cx="2495549" cy="117632"/>
          </a:xfrm>
          <a:prstGeom prst="roundRect">
            <a:avLst/>
          </a:prstGeom>
          <a:gradFill>
            <a:gsLst>
              <a:gs pos="0">
                <a:srgbClr val="FF0000"/>
              </a:gs>
              <a:gs pos="50000">
                <a:srgbClr val="FFFF00"/>
              </a:gs>
              <a:gs pos="100000">
                <a:srgbClr val="00B0F0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이등변 삼각형 91">
            <a:extLst>
              <a:ext uri="{FF2B5EF4-FFF2-40B4-BE49-F238E27FC236}">
                <a16:creationId xmlns:a16="http://schemas.microsoft.com/office/drawing/2014/main" id="{D8E12031-4716-DC6F-8730-83719B16AC4E}"/>
              </a:ext>
            </a:extLst>
          </p:cNvPr>
          <p:cNvSpPr/>
          <p:nvPr/>
        </p:nvSpPr>
        <p:spPr>
          <a:xfrm>
            <a:off x="10629901" y="3046188"/>
            <a:ext cx="147256" cy="117949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326A0F-5907-DDCE-9802-9C9954E668C2}"/>
              </a:ext>
            </a:extLst>
          </p:cNvPr>
          <p:cNvSpPr txBox="1"/>
          <p:nvPr/>
        </p:nvSpPr>
        <p:spPr>
          <a:xfrm>
            <a:off x="9182101" y="3167852"/>
            <a:ext cx="170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250 Hours</a:t>
            </a:r>
            <a:endParaRPr lang="ko-KR" alt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26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FE2E-BF3E-29BF-56F7-E661D7B1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그룹 70">
            <a:extLst>
              <a:ext uri="{FF2B5EF4-FFF2-40B4-BE49-F238E27FC236}">
                <a16:creationId xmlns:a16="http://schemas.microsoft.com/office/drawing/2014/main" id="{468AA0EF-C772-C2E6-56E9-CBCDD5D3ED38}"/>
              </a:ext>
            </a:extLst>
          </p:cNvPr>
          <p:cNvGrpSpPr/>
          <p:nvPr/>
        </p:nvGrpSpPr>
        <p:grpSpPr>
          <a:xfrm>
            <a:off x="225914" y="1006762"/>
            <a:ext cx="12076911" cy="2659781"/>
            <a:chOff x="225914" y="1006762"/>
            <a:chExt cx="12076911" cy="2659781"/>
          </a:xfrm>
        </p:grpSpPr>
        <p:sp>
          <p:nvSpPr>
            <p:cNvPr id="62" name="순서도: 대체 처리 61">
              <a:extLst>
                <a:ext uri="{FF2B5EF4-FFF2-40B4-BE49-F238E27FC236}">
                  <a16:creationId xmlns:a16="http://schemas.microsoft.com/office/drawing/2014/main" id="{A56239DD-BD82-2DDC-39E8-48B4737F1647}"/>
                </a:ext>
              </a:extLst>
            </p:cNvPr>
            <p:cNvSpPr/>
            <p:nvPr/>
          </p:nvSpPr>
          <p:spPr>
            <a:xfrm>
              <a:off x="8636003" y="1601098"/>
              <a:ext cx="3666822" cy="996677"/>
            </a:xfrm>
            <a:prstGeom prst="flowChartAlternate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9272FF1-B8AD-E435-CA1D-EE1E25BA1C36}"/>
                </a:ext>
              </a:extLst>
            </p:cNvPr>
            <p:cNvSpPr/>
            <p:nvPr/>
          </p:nvSpPr>
          <p:spPr>
            <a:xfrm>
              <a:off x="225914" y="1474567"/>
              <a:ext cx="1482813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JSSG-2007A </a:t>
              </a:r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분석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E6A833A-D29E-A330-434D-56E155FE087D}"/>
                </a:ext>
              </a:extLst>
            </p:cNvPr>
            <p:cNvSpPr/>
            <p:nvPr/>
          </p:nvSpPr>
          <p:spPr>
            <a:xfrm>
              <a:off x="1999298" y="1474567"/>
              <a:ext cx="1482813" cy="36389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TPE331 </a:t>
              </a:r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계통 및 파라미터 정의</a:t>
              </a: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E7CD739A-7C73-FCFD-44EE-E5BEA11E6443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>
            <a:xfrm>
              <a:off x="1708727" y="1656514"/>
              <a:ext cx="29057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4AE0BCF-B618-0E2C-4F80-BEBC93CAA02C}"/>
                </a:ext>
              </a:extLst>
            </p:cNvPr>
            <p:cNvSpPr/>
            <p:nvPr/>
          </p:nvSpPr>
          <p:spPr>
            <a:xfrm>
              <a:off x="3772682" y="2032942"/>
              <a:ext cx="1482813" cy="36389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엔진 물리 모델링</a:t>
              </a:r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(Twin Builder)</a:t>
              </a:r>
              <a:endParaRPr lang="ko-KR" altLang="en-US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7F915C7-C4D7-5B47-253A-705943C522E7}"/>
                </a:ext>
              </a:extLst>
            </p:cNvPr>
            <p:cNvSpPr/>
            <p:nvPr/>
          </p:nvSpPr>
          <p:spPr>
            <a:xfrm>
              <a:off x="5546066" y="2032942"/>
              <a:ext cx="1482813" cy="36389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고장</a:t>
              </a:r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상황 재현 및 </a:t>
              </a:r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학습 데이터셋 생성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9FF6A01-5678-A3EC-7EF6-0FFF17B23FFA}"/>
                </a:ext>
              </a:extLst>
            </p:cNvPr>
            <p:cNvCxnSpPr>
              <a:cxnSpLocks/>
              <a:stCxn id="15" idx="3"/>
              <a:endCxn id="17" idx="1"/>
            </p:cNvCxnSpPr>
            <p:nvPr/>
          </p:nvCxnSpPr>
          <p:spPr>
            <a:xfrm>
              <a:off x="5255495" y="2214889"/>
              <a:ext cx="29057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B347954-018D-0699-3A8E-531BAEA7939F}"/>
                </a:ext>
              </a:extLst>
            </p:cNvPr>
            <p:cNvSpPr/>
            <p:nvPr/>
          </p:nvSpPr>
          <p:spPr>
            <a:xfrm>
              <a:off x="5546066" y="2798194"/>
              <a:ext cx="1482813" cy="36389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AI </a:t>
              </a:r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기반 이상 징후</a:t>
              </a:r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탐지 알고리즘 최적화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8DF8137-CBA8-6D7B-6E13-895D4B124843}"/>
                </a:ext>
              </a:extLst>
            </p:cNvPr>
            <p:cNvSpPr/>
            <p:nvPr/>
          </p:nvSpPr>
          <p:spPr>
            <a:xfrm>
              <a:off x="7356394" y="2798194"/>
              <a:ext cx="1482813" cy="36389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작동 시간 기준</a:t>
              </a:r>
              <a:endParaRPr lang="en-US" altLang="ko-KR" sz="12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RUL </a:t>
              </a:r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예측 모델 학습</a:t>
              </a: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C66FDD9-B1EC-6DF4-7170-80C3CB7E1382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>
              <a:off x="7028879" y="2980141"/>
              <a:ext cx="3275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923166A-653B-C102-38D2-5BF08A665A3E}"/>
                </a:ext>
              </a:extLst>
            </p:cNvPr>
            <p:cNvSpPr/>
            <p:nvPr/>
          </p:nvSpPr>
          <p:spPr>
            <a:xfrm>
              <a:off x="8839207" y="2032942"/>
              <a:ext cx="1482813" cy="36389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CBM+ </a:t>
              </a:r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의사결정 대시보드 구현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DAD406C-FB70-6866-AB21-95252272BA4A}"/>
                </a:ext>
              </a:extLst>
            </p:cNvPr>
            <p:cNvSpPr/>
            <p:nvPr/>
          </p:nvSpPr>
          <p:spPr>
            <a:xfrm>
              <a:off x="10649535" y="2032942"/>
              <a:ext cx="1482813" cy="36389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물리적 타당성 검증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2544014-106F-CB91-DE7E-2B563A27B7E6}"/>
                </a:ext>
              </a:extLst>
            </p:cNvPr>
            <p:cNvCxnSpPr>
              <a:endCxn id="24" idx="1"/>
            </p:cNvCxnSpPr>
            <p:nvPr/>
          </p:nvCxnSpPr>
          <p:spPr>
            <a:xfrm>
              <a:off x="10322020" y="2214889"/>
              <a:ext cx="3275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4D15BAA5-37E6-C288-A4BA-2A0FD596A5C9}"/>
                </a:ext>
              </a:extLst>
            </p:cNvPr>
            <p:cNvCxnSpPr>
              <a:stCxn id="10" idx="3"/>
              <a:endCxn id="15" idx="1"/>
            </p:cNvCxnSpPr>
            <p:nvPr/>
          </p:nvCxnSpPr>
          <p:spPr>
            <a:xfrm>
              <a:off x="3482111" y="1656514"/>
              <a:ext cx="290571" cy="558375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8A9C8C5F-08A8-9ED6-4128-A237E3C57DBB}"/>
                </a:ext>
              </a:extLst>
            </p:cNvPr>
            <p:cNvCxnSpPr>
              <a:stCxn id="17" idx="2"/>
              <a:endCxn id="19" idx="0"/>
            </p:cNvCxnSpPr>
            <p:nvPr/>
          </p:nvCxnSpPr>
          <p:spPr>
            <a:xfrm>
              <a:off x="6287473" y="2396836"/>
              <a:ext cx="0" cy="40135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DD81B3FE-774D-0DEF-5618-1AD1BD1F0EAF}"/>
                </a:ext>
              </a:extLst>
            </p:cNvPr>
            <p:cNvCxnSpPr>
              <a:stCxn id="20" idx="3"/>
              <a:endCxn id="22" idx="2"/>
            </p:cNvCxnSpPr>
            <p:nvPr/>
          </p:nvCxnSpPr>
          <p:spPr>
            <a:xfrm flipV="1">
              <a:off x="8839207" y="2396836"/>
              <a:ext cx="741407" cy="5833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839213AD-8C52-0781-751A-688B4BCEAB2A}"/>
                </a:ext>
              </a:extLst>
            </p:cNvPr>
            <p:cNvCxnSpPr>
              <a:stCxn id="10" idx="0"/>
              <a:endCxn id="8" idx="0"/>
            </p:cNvCxnSpPr>
            <p:nvPr/>
          </p:nvCxnSpPr>
          <p:spPr>
            <a:xfrm rot="16200000" flipV="1">
              <a:off x="1854013" y="587875"/>
              <a:ext cx="12700" cy="1773384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3D45370-59ED-D7AF-4F72-9E9E2226A081}"/>
                </a:ext>
              </a:extLst>
            </p:cNvPr>
            <p:cNvSpPr txBox="1"/>
            <p:nvPr/>
          </p:nvSpPr>
          <p:spPr>
            <a:xfrm>
              <a:off x="1405021" y="1006762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Verification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0" name="연결선: 꺾임 59">
              <a:extLst>
                <a:ext uri="{FF2B5EF4-FFF2-40B4-BE49-F238E27FC236}">
                  <a16:creationId xmlns:a16="http://schemas.microsoft.com/office/drawing/2014/main" id="{97B9834B-ED9B-C933-FB19-7E53EE73C73E}"/>
                </a:ext>
              </a:extLst>
            </p:cNvPr>
            <p:cNvCxnSpPr>
              <a:stCxn id="20" idx="2"/>
              <a:endCxn id="19" idx="2"/>
            </p:cNvCxnSpPr>
            <p:nvPr/>
          </p:nvCxnSpPr>
          <p:spPr>
            <a:xfrm rot="5400000">
              <a:off x="7192637" y="2256924"/>
              <a:ext cx="12700" cy="1810328"/>
            </a:xfrm>
            <a:prstGeom prst="bentConnector3">
              <a:avLst>
                <a:gd name="adj1" fmla="val 1800000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130E4F-6F22-211E-0096-8BE1A21B1779}"/>
                </a:ext>
              </a:extLst>
            </p:cNvPr>
            <p:cNvSpPr txBox="1"/>
            <p:nvPr/>
          </p:nvSpPr>
          <p:spPr>
            <a:xfrm>
              <a:off x="6742031" y="3404933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Verification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3CBD61F-5999-8B84-E953-8811F054DB71}"/>
                </a:ext>
              </a:extLst>
            </p:cNvPr>
            <p:cNvSpPr txBox="1"/>
            <p:nvPr/>
          </p:nvSpPr>
          <p:spPr>
            <a:xfrm>
              <a:off x="9588593" y="1691291"/>
              <a:ext cx="17616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시스템 통합 및 결과 검증</a:t>
              </a:r>
            </a:p>
          </p:txBody>
        </p:sp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BFBE6475-D447-9EFB-8787-26A2558D0F8F}"/>
                </a:ext>
              </a:extLst>
            </p:cNvPr>
            <p:cNvCxnSpPr>
              <a:cxnSpLocks/>
              <a:stCxn id="62" idx="0"/>
              <a:endCxn id="15" idx="0"/>
            </p:cNvCxnSpPr>
            <p:nvPr/>
          </p:nvCxnSpPr>
          <p:spPr>
            <a:xfrm rot="16200000" flipH="1" flipV="1">
              <a:off x="7275830" y="-1160643"/>
              <a:ext cx="431844" cy="5955325"/>
            </a:xfrm>
            <a:prstGeom prst="bentConnector3">
              <a:avLst>
                <a:gd name="adj1" fmla="val -52936"/>
              </a:avLst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A5879A-6FCF-D210-8E49-A9DAE0D12949}"/>
                </a:ext>
              </a:extLst>
            </p:cNvPr>
            <p:cNvSpPr txBox="1"/>
            <p:nvPr/>
          </p:nvSpPr>
          <p:spPr>
            <a:xfrm>
              <a:off x="7192635" y="1106138"/>
              <a:ext cx="8082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Validation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245E8F96-D576-3046-9CF4-994D0A54C1DB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rot="10800000">
              <a:off x="4514090" y="2396836"/>
              <a:ext cx="1773383" cy="193670"/>
            </a:xfrm>
            <a:prstGeom prst="bentConnector2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CE4FCBF-C352-5C1E-3354-4B04F5BF79E5}"/>
                </a:ext>
              </a:extLst>
            </p:cNvPr>
            <p:cNvSpPr txBox="1"/>
            <p:nvPr/>
          </p:nvSpPr>
          <p:spPr>
            <a:xfrm>
              <a:off x="4481388" y="2595288"/>
              <a:ext cx="8082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Validation</a:t>
              </a:r>
              <a:endPara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81" name="그림 80">
            <a:extLst>
              <a:ext uri="{FF2B5EF4-FFF2-40B4-BE49-F238E27FC236}">
                <a16:creationId xmlns:a16="http://schemas.microsoft.com/office/drawing/2014/main" id="{453ED951-A443-868E-3E0D-73978889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64" y="3877860"/>
            <a:ext cx="12089416" cy="27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1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6056</TotalTime>
  <Words>258</Words>
  <Application>Microsoft Office PowerPoint</Application>
  <PresentationFormat>와이드스크린</PresentationFormat>
  <Paragraphs>56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Pretendard</vt:lpstr>
      <vt:lpstr>Pretendard Medium</vt:lpstr>
      <vt:lpstr>Pretendard SemiBold</vt:lpstr>
      <vt:lpstr>Arial</vt:lpstr>
      <vt:lpstr>Calibri</vt:lpstr>
      <vt:lpstr>Calibri Light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parkseeun</dc:creator>
  <cp:lastModifiedBy>parkseeun</cp:lastModifiedBy>
  <cp:revision>5</cp:revision>
  <dcterms:created xsi:type="dcterms:W3CDTF">2026-04-06T05:32:02Z</dcterms:created>
  <dcterms:modified xsi:type="dcterms:W3CDTF">2026-04-10T13:31:03Z</dcterms:modified>
</cp:coreProperties>
</file>