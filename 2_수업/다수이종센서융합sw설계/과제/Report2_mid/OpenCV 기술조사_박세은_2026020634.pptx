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974" r:id="rId2"/>
    <p:sldId id="966" r:id="rId3"/>
    <p:sldId id="990" r:id="rId4"/>
    <p:sldId id="996" r:id="rId5"/>
    <p:sldId id="997" r:id="rId6"/>
    <p:sldId id="998" r:id="rId7"/>
    <p:sldId id="999" r:id="rId8"/>
    <p:sldId id="1000" r:id="rId9"/>
    <p:sldId id="1001" r:id="rId10"/>
    <p:sldId id="1002" r:id="rId11"/>
    <p:sldId id="261" r:id="rId12"/>
  </p:sldIdLst>
  <p:sldSz cx="12192000" cy="6858000"/>
  <p:notesSz cx="6858000" cy="9144000"/>
  <p:embeddedFontLst>
    <p:embeddedFont>
      <p:font typeface="Pretendard" panose="02000503000000020004" pitchFamily="50" charset="-127"/>
      <p:regular r:id="rId14"/>
      <p:bold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60"/>
    <a:srgbClr val="C2F1C8"/>
    <a:srgbClr val="001F5F"/>
    <a:srgbClr val="D9D9D9"/>
    <a:srgbClr val="0B3041"/>
    <a:srgbClr val="156082"/>
    <a:srgbClr val="EDF2FA"/>
    <a:srgbClr val="DCEAF7"/>
    <a:srgbClr val="92D050"/>
    <a:srgbClr val="501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7995" autoAdjust="0"/>
  </p:normalViewPr>
  <p:slideViewPr>
    <p:cSldViewPr snapToGrid="0">
      <p:cViewPr>
        <p:scale>
          <a:sx n="75" d="100"/>
          <a:sy n="75" d="100"/>
        </p:scale>
        <p:origin x="264" y="1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BE92E-2694-4B9F-8120-CA975176E865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384AE-8F24-4CA1-8D17-9EADDD7D05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128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384AE-8F24-4CA1-8D17-9EADDD7D055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692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47166-D5CC-3CC4-8B26-4A1A095E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94740D-8D19-AB97-D043-6AC8577C1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19B06A-8E7C-F462-5281-B47AB3E3F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1697B5-BAA1-5F26-C30F-993332813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384AE-8F24-4CA1-8D17-9EADDD7D055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192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1A1F-3907-0271-D9EA-61D82A7E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21DD5B-020C-3488-ABD3-D5928AEFB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6620FF-46CD-769B-DA1F-EAAD4226E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431C7-BF37-1EBE-D3B5-F03F64B3F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384AE-8F24-4CA1-8D17-9EADDD7D055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007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B57ED-0A71-87E4-8807-693E9213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9DCEC0-F05F-DC42-9D71-9C386C2DA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69728C-B4C1-913F-BEC8-06C7D56A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7F34A-2187-F3CB-A151-53D091615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384AE-8F24-4CA1-8D17-9EADDD7D055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45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8CA6-CB60-BD06-2746-00872C48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FC9DCC-7F54-34D1-409C-F7EA0637C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A1AFB1-B627-A3CA-0395-6FD160E0B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70286F-AA93-745C-7967-D38B60C2B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384AE-8F24-4CA1-8D17-9EADDD7D055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739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48664-87FA-EB48-ABFD-504EA8F0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3FFAA4-A33B-B53F-4313-3B0BE5EF9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E8C8CD-BC2F-6CD1-C195-8CB5AE626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38E83-FB99-FD07-0171-21550FFFB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384AE-8F24-4CA1-8D17-9EADDD7D055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319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B93D-9195-3A5C-8DE1-72980899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F351D9-3204-8892-5A83-F3DDE751D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A6AD87-8757-FE90-7EA8-8D4D4D154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93CC3C-A923-7355-CBBE-620605037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384AE-8F24-4CA1-8D17-9EADDD7D055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380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7AFC-97E9-6C84-61A2-BDABC0E8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DB18D2-FE07-76A2-B8F4-0C7FB4DCD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88048B-841B-B988-8C6D-ED627D5EB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59264-903B-9B75-5FE2-904ECD34B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384AE-8F24-4CA1-8D17-9EADDD7D055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58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8D4AA-E316-2B4D-6C72-1E69F99BF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6E2FF9-C8E0-7E82-E267-E9F2E4CB6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2C7BC9-CDA2-C923-D70D-0EC59B33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3B7E0B-A770-FF44-BC90-3A1F4BF59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69A4DB-BC34-12D9-AC72-50F9F79F8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366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EF0E0-FE9E-6E97-2545-9213876B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5CF08-D3F3-1A49-78DC-2EFF12D2B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B080B8-024B-E622-ECFC-35E8B7CA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0DF2E6-FBF7-ADA2-9EE1-DD63753E0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E0628A-451F-CEBD-5C03-A52BB512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74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3E81B-BA64-7F5B-77D5-3D42A82E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6F972D-EDEA-29DE-81B4-733792C62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3220F9-328E-E8F1-7DB8-7D9A47C5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69F650-985F-81BB-CB4C-985372812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76D473-33C7-D1F7-94F2-A99C2FE6E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82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54391-002C-8CAE-2FC5-16721904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52A98-1961-42E7-85C9-19963F085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CB8A3D-932D-6194-1947-A2F67DD8E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6FC2DA-1A1D-FAE6-5F1D-6DDF8F71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56F301-F2E4-D07F-D73C-34D7EE39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DB0292-919F-EB7A-3EA6-5CC6DF43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30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5B21E-F994-3A35-F51B-0D67B27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CA0D09-57C4-6931-357D-EB29B232A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782A61-B55E-45A3-97EF-D1810A35A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170D76-D54D-DEED-9A5C-9EF56047F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5C9A73-A29C-5317-1D25-D52BF5ABA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28DCF3-09B2-B9B6-C46C-4E8237DA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A6A3AA-ACCE-6413-B904-4B9686CC4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D3B811-2F49-2A3F-3861-2B26064B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24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6FE05-50DC-5AF4-CD6F-14500D39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0EC80D-3CDA-744C-4867-8B5F98B89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2409CC-379F-2957-C259-34D88266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45E01F-C35A-423C-390C-8C9BF1CF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047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4A11EB-EFEC-E23C-9359-2D2667BC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CAED2D-5125-33B1-9D21-7DAE75C0E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3F6F67-DF15-76E9-031F-E4918380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5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078377-CEEB-AD77-B56E-FBE01ED5B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3969F-2D7D-B16F-8262-4DA79BC4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7BEA4C-216A-13F1-F2E0-011800D65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8770FC-CFC2-E90E-582E-800D531B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06B304-C3A2-73C9-A964-6B95651C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73EDF9-4F03-8F31-5BF6-A850098B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99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94EDAC-A571-7C09-0B89-E4EFEC38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8E440A-4F98-C2F2-F182-46A80F8FE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2C9220-4E61-E360-C984-5243B6941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379840-8CF4-8A5C-70DE-6402C562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87FA55-CE18-E785-DEBA-CAB61E64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F944F3-4B55-ECB3-80A0-758A4B19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1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33009-8781-4CB9-98AC-1AEEE3B64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3B1BDD-AE76-B9A9-2407-6FD9E7D7E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054C6-2078-0A45-532B-7F79A04C4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559D4B-515E-586D-B78A-3EC6C5B5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73E96-F306-8F30-2E12-2D201DA3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769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8C87E5-6502-7404-2BC5-EC38D80B3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F4503-0AD9-D3E1-0AC5-5A5BE7369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5B5E91-2E18-FE86-CEA7-2C4461816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455E6C-AFEA-C16F-D4DB-8A097E40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69C269-0D2E-56B5-0ED9-86B29E2C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192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CFF8D0-A47A-CB27-946F-505CCC4A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0F214B-04E1-2CE8-8024-80CC9CA48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426310-16A4-DEBF-A4E9-B22EDDC09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9EC48-D9F1-4133-A96C-0383F0CA678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05AB08-F7AB-29F8-B49A-69319E06B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BDF0F-7C32-A708-AF5D-E3EFC1B30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61223-40B9-4DB8-9321-9EF9A45ED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646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41B0108-3D40-AB0F-64A1-D5C2878000BA}"/>
              </a:ext>
            </a:extLst>
          </p:cNvPr>
          <p:cNvSpPr/>
          <p:nvPr/>
        </p:nvSpPr>
        <p:spPr>
          <a:xfrm>
            <a:off x="1490783" y="2025612"/>
            <a:ext cx="9210434" cy="1476051"/>
          </a:xfrm>
          <a:prstGeom prst="rect">
            <a:avLst/>
          </a:prstGeom>
          <a:gradFill>
            <a:gsLst>
              <a:gs pos="0">
                <a:srgbClr val="2B3C7A"/>
              </a:gs>
              <a:gs pos="100000">
                <a:schemeClr val="tx2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44000" rtlCol="0" anchor="ctr"/>
          <a:lstStyle/>
          <a:p>
            <a:pPr algn="ctr" fontAlgn="base" latinLnBrk="0">
              <a:lnSpc>
                <a:spcPct val="160000"/>
              </a:lnSpc>
              <a:spcAft>
                <a:spcPts val="500"/>
              </a:spcAft>
            </a:pPr>
            <a:r>
              <a:rPr lang="en-US" altLang="ko-KR" sz="3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 </a:t>
            </a:r>
            <a:r>
              <a:rPr lang="ko-KR" altLang="en-US" sz="3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 조사</a:t>
            </a:r>
            <a:endParaRPr lang="en-US" altLang="ko-KR" sz="32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8CDAED3-C057-FE5F-6CE9-60BD037079F8}"/>
              </a:ext>
            </a:extLst>
          </p:cNvPr>
          <p:cNvGrpSpPr/>
          <p:nvPr/>
        </p:nvGrpSpPr>
        <p:grpSpPr>
          <a:xfrm>
            <a:off x="1030086" y="2522374"/>
            <a:ext cx="10131828" cy="564770"/>
            <a:chOff x="1066799" y="1614937"/>
            <a:chExt cx="10131828" cy="77898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EDCAE0D-3C5B-0D52-99D8-9F63891C6373}"/>
                </a:ext>
              </a:extLst>
            </p:cNvPr>
            <p:cNvSpPr/>
            <p:nvPr/>
          </p:nvSpPr>
          <p:spPr>
            <a:xfrm>
              <a:off x="1066799" y="1614937"/>
              <a:ext cx="45719" cy="7789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5F3C615-483C-43A1-B79B-9EA9ACF70BC9}"/>
                </a:ext>
              </a:extLst>
            </p:cNvPr>
            <p:cNvSpPr/>
            <p:nvPr/>
          </p:nvSpPr>
          <p:spPr>
            <a:xfrm>
              <a:off x="11152908" y="1614937"/>
              <a:ext cx="45719" cy="7789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A5A582-6CDB-1277-11F5-72064627CFCB}"/>
              </a:ext>
            </a:extLst>
          </p:cNvPr>
          <p:cNvSpPr/>
          <p:nvPr/>
        </p:nvSpPr>
        <p:spPr>
          <a:xfrm>
            <a:off x="1275880" y="4213158"/>
            <a:ext cx="9640240" cy="624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기계항공시스템공학과 석사 박세은</a:t>
            </a:r>
            <a:endParaRPr lang="en-US" altLang="ko-KR" sz="16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4446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E5FDD4A-8880-60FB-62A2-C4AE907B4EFD}"/>
              </a:ext>
            </a:extLst>
          </p:cNvPr>
          <p:cNvCxnSpPr>
            <a:cxnSpLocks/>
          </p:cNvCxnSpPr>
          <p:nvPr/>
        </p:nvCxnSpPr>
        <p:spPr>
          <a:xfrm flipH="1">
            <a:off x="791383" y="1508654"/>
            <a:ext cx="4144799" cy="0"/>
          </a:xfrm>
          <a:prstGeom prst="line">
            <a:avLst/>
          </a:prstGeom>
          <a:ln w="57150">
            <a:solidFill>
              <a:srgbClr val="001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FE885F-16DE-FAD9-5B30-2EBB89ECE3A9}"/>
              </a:ext>
            </a:extLst>
          </p:cNvPr>
          <p:cNvSpPr txBox="1"/>
          <p:nvPr/>
        </p:nvSpPr>
        <p:spPr>
          <a:xfrm>
            <a:off x="761699" y="1075736"/>
            <a:ext cx="1624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01F60"/>
                </a:solidFill>
                <a:latin typeface="+mn-ea"/>
              </a:rPr>
              <a:t>COTENTS</a:t>
            </a:r>
            <a:endParaRPr lang="ko-KR" altLang="en-US" sz="2400" b="1" dirty="0">
              <a:solidFill>
                <a:srgbClr val="001F60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14D320-B36A-A00D-7FA1-8D76E1F2A162}"/>
              </a:ext>
            </a:extLst>
          </p:cNvPr>
          <p:cNvSpPr txBox="1"/>
          <p:nvPr/>
        </p:nvSpPr>
        <p:spPr>
          <a:xfrm>
            <a:off x="22615137" y="13659254"/>
            <a:ext cx="219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Page (2 / 15)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49E12E-812C-A969-2253-4EABD9DBF33A}"/>
              </a:ext>
            </a:extLst>
          </p:cNvPr>
          <p:cNvSpPr txBox="1"/>
          <p:nvPr/>
        </p:nvSpPr>
        <p:spPr>
          <a:xfrm>
            <a:off x="1829869" y="2126059"/>
            <a:ext cx="3812874" cy="395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200000"/>
              </a:lnSpc>
              <a:buClr>
                <a:srgbClr val="001F5F"/>
              </a:buClr>
              <a:buFont typeface="+mj-lt"/>
              <a:buAutoNum type="romanUcPeriod"/>
            </a:pPr>
            <a:r>
              <a:rPr lang="ko-KR" altLang="en-US" sz="1600" b="1" dirty="0">
                <a:solidFill>
                  <a:srgbClr val="001F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정의와 시스템 내 역할</a:t>
            </a:r>
            <a:endParaRPr lang="en-US" altLang="ko-KR" sz="1600" b="1" dirty="0">
              <a:solidFill>
                <a:srgbClr val="001F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00050" indent="-400050">
              <a:lnSpc>
                <a:spcPct val="200000"/>
              </a:lnSpc>
              <a:buClr>
                <a:srgbClr val="001F5F"/>
              </a:buClr>
              <a:buFont typeface="+mj-lt"/>
              <a:buAutoNum type="romanUcPeriod"/>
            </a:pPr>
            <a:r>
              <a:rPr lang="ko-KR" altLang="en-US" sz="1600" b="1" dirty="0">
                <a:solidFill>
                  <a:srgbClr val="001F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역사 및 발전 과정</a:t>
            </a:r>
            <a:endParaRPr lang="en-US" altLang="ko-KR" sz="1600" b="1" dirty="0">
              <a:solidFill>
                <a:srgbClr val="001F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00050" indent="-400050">
              <a:lnSpc>
                <a:spcPct val="200000"/>
              </a:lnSpc>
              <a:buClr>
                <a:srgbClr val="001F5F"/>
              </a:buClr>
              <a:buFont typeface="+mj-lt"/>
              <a:buAutoNum type="romanUcPeriod"/>
            </a:pPr>
            <a:r>
              <a:rPr lang="ko-KR" altLang="en-US" sz="1600" b="1" dirty="0">
                <a:solidFill>
                  <a:srgbClr val="001F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모듈 구성 및 기능</a:t>
            </a:r>
            <a:endParaRPr lang="en-US" altLang="ko-KR" sz="1600" b="1" dirty="0">
              <a:solidFill>
                <a:srgbClr val="001F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00050" indent="-400050">
              <a:lnSpc>
                <a:spcPct val="200000"/>
              </a:lnSpc>
              <a:buClr>
                <a:srgbClr val="001F5F"/>
              </a:buClr>
              <a:buFont typeface="+mj-lt"/>
              <a:buAutoNum type="romanUcPeriod"/>
            </a:pPr>
            <a:r>
              <a:rPr lang="ko-KR" altLang="en-US" sz="1600" b="1" dirty="0">
                <a:solidFill>
                  <a:srgbClr val="001F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방법 및 통합 사용 도구</a:t>
            </a:r>
            <a:endParaRPr lang="en-US" altLang="ko-KR" sz="1600" b="1" dirty="0">
              <a:solidFill>
                <a:srgbClr val="001F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00050" indent="-400050">
              <a:lnSpc>
                <a:spcPct val="200000"/>
              </a:lnSpc>
              <a:buClr>
                <a:srgbClr val="001F5F"/>
              </a:buClr>
              <a:buFont typeface="+mj-lt"/>
              <a:buAutoNum type="romanUcPeriod" startAt="5"/>
            </a:pPr>
            <a:r>
              <a:rPr lang="ko-KR" altLang="en-US" sz="1600" b="1" dirty="0">
                <a:solidFill>
                  <a:srgbClr val="001F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인공지능 기술과의 시너지</a:t>
            </a:r>
            <a:endParaRPr lang="en-US" altLang="ko-KR" sz="1600" b="1" dirty="0">
              <a:solidFill>
                <a:srgbClr val="001F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00050" indent="-400050">
              <a:lnSpc>
                <a:spcPct val="200000"/>
              </a:lnSpc>
              <a:buClr>
                <a:srgbClr val="001F5F"/>
              </a:buClr>
              <a:buFont typeface="+mj-lt"/>
              <a:buAutoNum type="romanUcPeriod" startAt="5"/>
            </a:pPr>
            <a:r>
              <a:rPr lang="ko-KR" altLang="en-US" sz="1600" b="1" dirty="0">
                <a:solidFill>
                  <a:srgbClr val="001F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최근 활용 및 개발 동향</a:t>
            </a:r>
            <a:endParaRPr lang="en-US" altLang="ko-KR" sz="1600" b="1" dirty="0">
              <a:solidFill>
                <a:srgbClr val="001F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00050" indent="-400050">
              <a:lnSpc>
                <a:spcPct val="200000"/>
              </a:lnSpc>
              <a:buClr>
                <a:srgbClr val="001F5F"/>
              </a:buClr>
              <a:buFont typeface="+mj-lt"/>
              <a:buAutoNum type="romanUcPeriod" startAt="5"/>
            </a:pPr>
            <a:r>
              <a:rPr lang="ko-KR" altLang="en-US" sz="1600" b="1" dirty="0">
                <a:solidFill>
                  <a:srgbClr val="001F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항공정비에서의 </a:t>
            </a:r>
            <a:r>
              <a:rPr lang="en-US" altLang="ko-KR" sz="1600" b="1" dirty="0">
                <a:solidFill>
                  <a:srgbClr val="001F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</a:p>
          <a:p>
            <a:pPr marL="400050" indent="-400050">
              <a:lnSpc>
                <a:spcPct val="200000"/>
              </a:lnSpc>
              <a:buClr>
                <a:srgbClr val="001F5F"/>
              </a:buClr>
              <a:buFont typeface="+mj-lt"/>
              <a:buAutoNum type="romanUcPeriod"/>
            </a:pPr>
            <a:endParaRPr lang="en-US" altLang="ko-KR" sz="1600" b="1" dirty="0">
              <a:solidFill>
                <a:srgbClr val="001F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002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2041-6C37-26C8-53A2-43129B5B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AAC0C8B-7EE7-4AA2-5E16-2F7723CCB57F}"/>
              </a:ext>
            </a:extLst>
          </p:cNvPr>
          <p:cNvSpPr txBox="1"/>
          <p:nvPr/>
        </p:nvSpPr>
        <p:spPr>
          <a:xfrm>
            <a:off x="22615137" y="13659254"/>
            <a:ext cx="219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Page (2 / 15)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FDF64B-4098-A26B-99A8-B403C97D1F6A}"/>
              </a:ext>
            </a:extLst>
          </p:cNvPr>
          <p:cNvSpPr txBox="1"/>
          <p:nvPr/>
        </p:nvSpPr>
        <p:spPr>
          <a:xfrm>
            <a:off x="380086" y="742639"/>
            <a:ext cx="727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ko-KR" altLang="en-US" sz="2800" b="1" dirty="0">
                <a:solidFill>
                  <a:srgbClr val="001F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정의와 시스템 내 역할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0B511E-5846-90A8-4DEA-3B18193C4C8D}"/>
              </a:ext>
            </a:extLst>
          </p:cNvPr>
          <p:cNvSpPr txBox="1"/>
          <p:nvPr/>
        </p:nvSpPr>
        <p:spPr>
          <a:xfrm>
            <a:off x="848880" y="1519421"/>
            <a:ext cx="10494240" cy="1024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 (Open Source Computer Vision Library)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인텔 주도로 시작된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수백 개의 비전 알고리즘을 포함하는 오픈 소스 컴퓨터 비전 라이브러리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C, C++ API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기반으로 설계되었으며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영상 처리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계산 효율성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컴퓨터 비전 응용에 중점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43934-B80E-8679-CE32-D83A4BE26139}"/>
              </a:ext>
            </a:extLst>
          </p:cNvPr>
          <p:cNvSpPr txBox="1"/>
          <p:nvPr/>
        </p:nvSpPr>
        <p:spPr>
          <a:xfrm>
            <a:off x="848880" y="2955633"/>
            <a:ext cx="10494240" cy="134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카메라 센서로부터 수집된 비정형 영상 데이터를 활용 가능한 정형 데이터로 추출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변환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즉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현실의 물리적 시각 데이터를 해석하는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b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(OpenGL)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가속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(OpenCL, CUDA)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도구와 함께 사용할 때 전체 시스템 성능 향상 가능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2733F-5CAA-2696-613A-EC5D483758F3}"/>
              </a:ext>
            </a:extLst>
          </p:cNvPr>
          <p:cNvSpPr txBox="1"/>
          <p:nvPr/>
        </p:nvSpPr>
        <p:spPr>
          <a:xfrm>
            <a:off x="848880" y="4556633"/>
            <a:ext cx="5118783" cy="134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특징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영상 처리에 적합한 구조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메모리 복사 최소화를 통한 효율성 확보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멀티코어 기반 병렬 처리 활용 가능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FE958-3401-6BE6-63B1-3E986B05E56A}"/>
              </a:ext>
            </a:extLst>
          </p:cNvPr>
          <p:cNvSpPr txBox="1"/>
          <p:nvPr/>
        </p:nvSpPr>
        <p:spPr>
          <a:xfrm>
            <a:off x="5613386" y="4853772"/>
            <a:ext cx="5118783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안정적인 메모리 관리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영상 왜곡 방지를 위한 데이터 범위 제어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26" name="Picture 2" descr="Open CV - Blocks, Python Functions, Projects | PictoBlox Extension">
            <a:extLst>
              <a:ext uri="{FF2B5EF4-FFF2-40B4-BE49-F238E27FC236}">
                <a16:creationId xmlns:a16="http://schemas.microsoft.com/office/drawing/2014/main" id="{07B6F079-E692-C05C-50B7-54C6ADDB8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700" y="4617205"/>
            <a:ext cx="2412005" cy="180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52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0E64C-563C-81DF-F578-D2C9CD01C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B2287DF-5821-A745-8569-A84D42FA7B8B}"/>
              </a:ext>
            </a:extLst>
          </p:cNvPr>
          <p:cNvSpPr txBox="1"/>
          <p:nvPr/>
        </p:nvSpPr>
        <p:spPr>
          <a:xfrm>
            <a:off x="22615137" y="13659254"/>
            <a:ext cx="219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Page (2 / 15)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0E1C0D-4E2C-8D29-F7FB-6D751F5447AD}"/>
              </a:ext>
            </a:extLst>
          </p:cNvPr>
          <p:cNvSpPr txBox="1"/>
          <p:nvPr/>
        </p:nvSpPr>
        <p:spPr>
          <a:xfrm>
            <a:off x="380086" y="742639"/>
            <a:ext cx="727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ko-KR" altLang="en-US" sz="2800" b="1" dirty="0">
                <a:solidFill>
                  <a:srgbClr val="001F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역사 및 발전 과정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89A280-078C-8A1E-3413-21211C34452D}"/>
              </a:ext>
            </a:extLst>
          </p:cNvPr>
          <p:cNvSpPr txBox="1"/>
          <p:nvPr/>
        </p:nvSpPr>
        <p:spPr>
          <a:xfrm>
            <a:off x="776692" y="1723688"/>
            <a:ext cx="4613455" cy="1024576"/>
          </a:xfrm>
          <a:prstGeom prst="rect">
            <a:avLst/>
          </a:prstGeom>
          <a:noFill/>
          <a:ln w="28575">
            <a:solidFill>
              <a:srgbClr val="001F6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1999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이전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인텔 연구소 주도로 프로젝트 기획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비전 처리 성능 확보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연구 인프라 표준화 목적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621CED-DE22-2F8E-254A-3B72F8E76121}"/>
              </a:ext>
            </a:extLst>
          </p:cNvPr>
          <p:cNvSpPr txBox="1"/>
          <p:nvPr/>
        </p:nvSpPr>
        <p:spPr>
          <a:xfrm>
            <a:off x="776692" y="3753860"/>
            <a:ext cx="4613455" cy="1024576"/>
          </a:xfrm>
          <a:prstGeom prst="rect">
            <a:avLst/>
          </a:prstGeom>
          <a:noFill/>
          <a:ln w="28575">
            <a:solidFill>
              <a:srgbClr val="001F6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2008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무렵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~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 2.x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전환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 API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중심 구조에서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C++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구조로 개편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83955C-57B0-DE93-93D5-7350F80EE742}"/>
              </a:ext>
            </a:extLst>
          </p:cNvPr>
          <p:cNvSpPr txBox="1"/>
          <p:nvPr/>
        </p:nvSpPr>
        <p:spPr>
          <a:xfrm>
            <a:off x="6539820" y="2615912"/>
            <a:ext cx="4757836" cy="1024576"/>
          </a:xfrm>
          <a:prstGeom prst="rect">
            <a:avLst/>
          </a:prstGeom>
          <a:noFill/>
          <a:ln w="28575">
            <a:solidFill>
              <a:srgbClr val="001F6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1999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~ 2000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년대 중반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첫 알파 버전 공개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DARPA Grand Challenge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우승 로봇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Stanley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적용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F8CE2C-B745-CE90-541A-1A847998C131}"/>
              </a:ext>
            </a:extLst>
          </p:cNvPr>
          <p:cNvSpPr txBox="1"/>
          <p:nvPr/>
        </p:nvSpPr>
        <p:spPr>
          <a:xfrm>
            <a:off x="6539820" y="4821494"/>
            <a:ext cx="4757836" cy="1024576"/>
          </a:xfrm>
          <a:prstGeom prst="rect">
            <a:avLst/>
          </a:prstGeom>
          <a:noFill/>
          <a:ln w="28575">
            <a:solidFill>
              <a:srgbClr val="001F6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최근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dnn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모듈 도입 등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 통합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컴퓨터 비전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지능형 시각 플랫폼으로 확장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E9581817-3127-EB2B-E0C7-84203176E569}"/>
              </a:ext>
            </a:extLst>
          </p:cNvPr>
          <p:cNvSpPr/>
          <p:nvPr/>
        </p:nvSpPr>
        <p:spPr>
          <a:xfrm rot="2152685">
            <a:off x="5604210" y="2153174"/>
            <a:ext cx="680011" cy="457946"/>
          </a:xfrm>
          <a:prstGeom prst="rightArrow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26EE5E1F-F846-0580-D9D1-476A8EC84B86}"/>
              </a:ext>
            </a:extLst>
          </p:cNvPr>
          <p:cNvSpPr/>
          <p:nvPr/>
        </p:nvSpPr>
        <p:spPr>
          <a:xfrm rot="2152685">
            <a:off x="5604210" y="4525716"/>
            <a:ext cx="680011" cy="457946"/>
          </a:xfrm>
          <a:prstGeom prst="rightArrow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F937F0C8-A390-796D-B492-468F9A2CFBFD}"/>
              </a:ext>
            </a:extLst>
          </p:cNvPr>
          <p:cNvSpPr/>
          <p:nvPr/>
        </p:nvSpPr>
        <p:spPr>
          <a:xfrm rot="19447315" flipH="1">
            <a:off x="5604210" y="3278336"/>
            <a:ext cx="680011" cy="457946"/>
          </a:xfrm>
          <a:prstGeom prst="rightArrow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37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1A4C-0FEA-5E42-C1DC-B10F6C8CD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5DC45A-6AA5-CF11-5B1B-11F304578D02}"/>
              </a:ext>
            </a:extLst>
          </p:cNvPr>
          <p:cNvSpPr txBox="1"/>
          <p:nvPr/>
        </p:nvSpPr>
        <p:spPr>
          <a:xfrm>
            <a:off x="22615137" y="13659254"/>
            <a:ext cx="219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Page (2 / 15)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B3B30-466E-FDC2-A353-C8557ABE3F0F}"/>
              </a:ext>
            </a:extLst>
          </p:cNvPr>
          <p:cNvSpPr txBox="1"/>
          <p:nvPr/>
        </p:nvSpPr>
        <p:spPr>
          <a:xfrm>
            <a:off x="380086" y="742639"/>
            <a:ext cx="727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 startAt="3"/>
            </a:pPr>
            <a:r>
              <a:rPr lang="ko-KR" altLang="en-US" sz="2800" b="1" dirty="0">
                <a:solidFill>
                  <a:srgbClr val="001F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모듈 구성 및 기능 분류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D3EBC-A5C8-B166-A0E3-166DF190BA7A}"/>
              </a:ext>
            </a:extLst>
          </p:cNvPr>
          <p:cNvSpPr txBox="1"/>
          <p:nvPr/>
        </p:nvSpPr>
        <p:spPr>
          <a:xfrm>
            <a:off x="5814580" y="1519421"/>
            <a:ext cx="5704320" cy="1024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기초 인프라 및 입출력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core: Mat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구조와 핵심 수학 연산 제공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imgcodecs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videoio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highgui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영상 입출력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비디오 캡처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UI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지원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47FF5-EEC9-78C1-110D-3BAEBF5FF0A5}"/>
              </a:ext>
            </a:extLst>
          </p:cNvPr>
          <p:cNvSpPr txBox="1"/>
          <p:nvPr/>
        </p:nvSpPr>
        <p:spPr>
          <a:xfrm>
            <a:off x="5814580" y="2717739"/>
            <a:ext cx="5704320" cy="1024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영상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전처리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특징 추출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imgproc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필터링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색상 변환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기하학 변환 수행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features2d, xfeatures2d: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특징점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검출 및 매칭 지원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A14E6-644F-65A8-960A-84FFEC76FE9B}"/>
              </a:ext>
            </a:extLst>
          </p:cNvPr>
          <p:cNvSpPr txBox="1"/>
          <p:nvPr/>
        </p:nvSpPr>
        <p:spPr>
          <a:xfrm>
            <a:off x="5814580" y="3916058"/>
            <a:ext cx="5704320" cy="1024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차원 해석 및 추적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calib3d: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카메라 보정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자세 추정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3D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재구성 수행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video,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optflow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tracking: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움직임 추정 및 객체 추적 지원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9D0AC-CC3E-7147-03B3-461D5A4947A0}"/>
              </a:ext>
            </a:extLst>
          </p:cNvPr>
          <p:cNvSpPr txBox="1"/>
          <p:nvPr/>
        </p:nvSpPr>
        <p:spPr>
          <a:xfrm>
            <a:off x="5814580" y="5108150"/>
            <a:ext cx="5704320" cy="1024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지능형 판단 및 연산 가속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objdetect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ml,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dnn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객체 검출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분류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 추론 수행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cuda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계열 모듈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GPU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병렬 처리 가속 지원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962A28C-60E7-6A97-A440-1430D26B3F34}"/>
              </a:ext>
            </a:extLst>
          </p:cNvPr>
          <p:cNvSpPr/>
          <p:nvPr/>
        </p:nvSpPr>
        <p:spPr>
          <a:xfrm>
            <a:off x="4474410" y="3429000"/>
            <a:ext cx="680011" cy="457946"/>
          </a:xfrm>
          <a:prstGeom prst="rightArrow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D24A2-24C2-50AD-5032-86C5837962F6}"/>
              </a:ext>
            </a:extLst>
          </p:cNvPr>
          <p:cNvSpPr txBox="1"/>
          <p:nvPr/>
        </p:nvSpPr>
        <p:spPr>
          <a:xfrm>
            <a:off x="950480" y="3132260"/>
            <a:ext cx="3596120" cy="1024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목적에 맞게 조립할 수 있도록 </a:t>
            </a:r>
            <a:b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개의 공식 메인 모듈과 </a:t>
            </a:r>
            <a:b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50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여 개 이상의 엑스트라 모듈로 구성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2753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9E85-740D-39B3-42F0-FD88D0BE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09E7EB2-02B0-510D-2B0E-7AE83C0176B9}"/>
              </a:ext>
            </a:extLst>
          </p:cNvPr>
          <p:cNvSpPr txBox="1"/>
          <p:nvPr/>
        </p:nvSpPr>
        <p:spPr>
          <a:xfrm>
            <a:off x="22615137" y="13659254"/>
            <a:ext cx="219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Page (2 / 15)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948F20-90AF-2658-BF6B-E68BDF82A06C}"/>
              </a:ext>
            </a:extLst>
          </p:cNvPr>
          <p:cNvSpPr txBox="1"/>
          <p:nvPr/>
        </p:nvSpPr>
        <p:spPr>
          <a:xfrm>
            <a:off x="380086" y="742639"/>
            <a:ext cx="727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 startAt="4"/>
            </a:pPr>
            <a:r>
              <a:rPr lang="ko-KR" altLang="en-US" sz="2800" b="1" dirty="0">
                <a:solidFill>
                  <a:srgbClr val="001F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방법 및 통합 사용 도구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628D9-AF87-0649-A661-1ACFD8233352}"/>
              </a:ext>
            </a:extLst>
          </p:cNvPr>
          <p:cNvSpPr txBox="1"/>
          <p:nvPr/>
        </p:nvSpPr>
        <p:spPr>
          <a:xfrm>
            <a:off x="848880" y="1621021"/>
            <a:ext cx="10494240" cy="134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활용 방법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카메라 영상의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전처리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객체 인식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특징 추출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거리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자세 추정 등에 활용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원시 영상 데이터를 기계가 활용 가능한 정보로 변환하는 입력 해석 도구로 사용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로봇 비전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자율주행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산업 검사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의료 영상 등 다양한 분야에 적용 가능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54EF87-91A0-D700-3602-0A633CCDD818}"/>
              </a:ext>
            </a:extLst>
          </p:cNvPr>
          <p:cNvSpPr txBox="1"/>
          <p:nvPr/>
        </p:nvSpPr>
        <p:spPr>
          <a:xfrm>
            <a:off x="848880" y="3191844"/>
            <a:ext cx="10494240" cy="1670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사용 도구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OpenGL : OpenCV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처리 결과를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시각화하는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출력 도구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OpenCL / CUDA 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대규모 영상 연산의 처리 속도를 높이는 가속 도구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ROS 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센서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제어기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비전 모듈을 연결하는 시스템 통합 프레임워크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/ C++ : OpenCV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응용 프로그램 구현에 주로 사용되는 개발 언어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69427-2692-C298-EF5E-943C39AEE274}"/>
              </a:ext>
            </a:extLst>
          </p:cNvPr>
          <p:cNvSpPr txBox="1"/>
          <p:nvPr/>
        </p:nvSpPr>
        <p:spPr>
          <a:xfrm>
            <a:off x="848880" y="5081199"/>
            <a:ext cx="10494240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활용 의미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단독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도구라기보다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가속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제어 도구와 결합될 때 전체 시스템 성능을 높일 수 있음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8524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F9AE6-D4E1-FE68-82AB-75272D65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A4207A0-C011-FBCC-07C1-F10C216BE917}"/>
              </a:ext>
            </a:extLst>
          </p:cNvPr>
          <p:cNvSpPr txBox="1"/>
          <p:nvPr/>
        </p:nvSpPr>
        <p:spPr>
          <a:xfrm>
            <a:off x="22615137" y="13659254"/>
            <a:ext cx="219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Page (2 / 15)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AED9F4-474F-5DA0-FECC-3AFAC9C866BF}"/>
              </a:ext>
            </a:extLst>
          </p:cNvPr>
          <p:cNvSpPr txBox="1"/>
          <p:nvPr/>
        </p:nvSpPr>
        <p:spPr>
          <a:xfrm>
            <a:off x="380086" y="742639"/>
            <a:ext cx="727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 startAt="5"/>
            </a:pPr>
            <a:r>
              <a:rPr lang="ko-KR" altLang="en-US" sz="2800" b="1" dirty="0">
                <a:solidFill>
                  <a:srgbClr val="001F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인공지능 기술과의 시너지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F2510-284C-AC72-4D9A-9B9564618413}"/>
              </a:ext>
            </a:extLst>
          </p:cNvPr>
          <p:cNvSpPr txBox="1"/>
          <p:nvPr/>
        </p:nvSpPr>
        <p:spPr>
          <a:xfrm>
            <a:off x="861595" y="1513495"/>
            <a:ext cx="6618705" cy="134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대표 프레임워크 및 도구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TensorFlow,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PyTorch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Keras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 모델 학습 및 추론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ONNX Runtime,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TensorRT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OpenVINO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최적화 및 추론 가속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CUDA,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cuDNN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GPU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병렬 연산 가속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16B5D-92D8-CB08-EDF9-028E72C5AAF0}"/>
              </a:ext>
            </a:extLst>
          </p:cNvPr>
          <p:cNvSpPr txBox="1"/>
          <p:nvPr/>
        </p:nvSpPr>
        <p:spPr>
          <a:xfrm>
            <a:off x="861595" y="3192024"/>
            <a:ext cx="6038515" cy="134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시너지 효과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 품질 개선과 추론 결과 후처리를 지원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만으로 어려운 고수준 의미 해석 기능 보완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 기술의 결합으로 정확도와 실시간성 향상 가능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377A679-7211-46E5-BC79-88673E5CF678}"/>
              </a:ext>
            </a:extLst>
          </p:cNvPr>
          <p:cNvGrpSpPr/>
          <p:nvPr/>
        </p:nvGrpSpPr>
        <p:grpSpPr>
          <a:xfrm>
            <a:off x="912395" y="4877471"/>
            <a:ext cx="9908005" cy="1070741"/>
            <a:chOff x="569495" y="4572671"/>
            <a:chExt cx="9908005" cy="10707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08BE12-AA90-8676-6F82-52299BA6F6AB}"/>
                </a:ext>
              </a:extLst>
            </p:cNvPr>
            <p:cNvSpPr txBox="1"/>
            <p:nvPr/>
          </p:nvSpPr>
          <p:spPr>
            <a:xfrm>
              <a:off x="569495" y="4572671"/>
              <a:ext cx="4523205" cy="1024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ko-KR" altLang="en-US" sz="1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대표  </a:t>
              </a:r>
              <a:r>
                <a:rPr lang="en-US" altLang="ko-KR" sz="1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AI </a:t>
              </a:r>
              <a:r>
                <a:rPr lang="ko-KR" altLang="en-US" sz="1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모델 사례</a:t>
              </a:r>
              <a:endPara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YOLO / Faster R-CNN / SSD : 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객체 검출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U-Net / Mask R-CNN : 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영상 분할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CBD5FA-9AC6-8B6B-48D1-2FDED4102F11}"/>
                </a:ext>
              </a:extLst>
            </p:cNvPr>
            <p:cNvSpPr txBox="1"/>
            <p:nvPr/>
          </p:nvSpPr>
          <p:spPr>
            <a:xfrm>
              <a:off x="5954295" y="4942002"/>
              <a:ext cx="4523205" cy="701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ResNet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/ </a:t>
              </a:r>
              <a:r>
                <a:rPr lang="en-US" altLang="ko-KR" sz="1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EfficientNet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: 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영상 분류</a:t>
              </a:r>
            </a:p>
            <a:p>
              <a:pPr marL="742950" lvl="1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OpenPose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/ </a:t>
              </a:r>
              <a:r>
                <a:rPr lang="en-US" altLang="ko-KR" sz="1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MediaPipe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: 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자세 추정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0798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DC3A-8441-59A5-1580-94442B20A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3B9DBA7-D834-6513-72EE-D856EBCE4F6B}"/>
              </a:ext>
            </a:extLst>
          </p:cNvPr>
          <p:cNvSpPr txBox="1"/>
          <p:nvPr/>
        </p:nvSpPr>
        <p:spPr>
          <a:xfrm>
            <a:off x="22615137" y="13659254"/>
            <a:ext cx="219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Page (2 / 15)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F20D2-0941-60E4-C071-F1A9373F5F50}"/>
              </a:ext>
            </a:extLst>
          </p:cNvPr>
          <p:cNvSpPr txBox="1"/>
          <p:nvPr/>
        </p:nvSpPr>
        <p:spPr>
          <a:xfrm>
            <a:off x="380086" y="742639"/>
            <a:ext cx="727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6"/>
            </a:pPr>
            <a:r>
              <a:rPr lang="ko-KR" altLang="en-US" sz="2800" b="1" dirty="0">
                <a:solidFill>
                  <a:srgbClr val="001F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최근 활용 및 개발 동향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D2748-D8F3-81AF-73F4-D02C527C7753}"/>
              </a:ext>
            </a:extLst>
          </p:cNvPr>
          <p:cNvSpPr txBox="1"/>
          <p:nvPr/>
        </p:nvSpPr>
        <p:spPr>
          <a:xfrm>
            <a:off x="848880" y="1913121"/>
            <a:ext cx="10494240" cy="3609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비전 응용 활용 지속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객체 검출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추적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영상 분석 등 실시간 비전 시스템 구현에 지속적으로 활용됨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 프레임워크와의 결합 확대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최근 응용 사례에서는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PyTorch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 딥러닝 프레임워크와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함께 사용하는 방식이 나타남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전처리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후처리 도구로서 활용성 유지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영상 입력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전처리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시각화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추론 결과 후처리 과정에서 여전히 중요한 역할을 수행함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라이브러리 안정성 및 유지보수 중요성 증가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최근에는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자체의 신뢰성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품질 관리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버그 탐지와 같은 유지보수 연구도 진행됨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011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CD3BF-EB0D-D10C-5CFE-258E95A7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EE6D2ED-B1D3-3A5F-182E-AB393C5F38DB}"/>
              </a:ext>
            </a:extLst>
          </p:cNvPr>
          <p:cNvSpPr txBox="1"/>
          <p:nvPr/>
        </p:nvSpPr>
        <p:spPr>
          <a:xfrm>
            <a:off x="22615137" y="13659254"/>
            <a:ext cx="219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Page (2 / 15)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DB605-E5C8-78D7-D031-09ED565E9B31}"/>
              </a:ext>
            </a:extLst>
          </p:cNvPr>
          <p:cNvSpPr txBox="1"/>
          <p:nvPr/>
        </p:nvSpPr>
        <p:spPr>
          <a:xfrm>
            <a:off x="380086" y="742639"/>
            <a:ext cx="727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7"/>
            </a:pPr>
            <a:r>
              <a:rPr lang="ko-KR" altLang="en-US" sz="2800" b="1" dirty="0">
                <a:solidFill>
                  <a:srgbClr val="001F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항공정비에서의 </a:t>
            </a:r>
            <a:r>
              <a:rPr lang="en-US" altLang="ko-KR" sz="2800" b="1" dirty="0">
                <a:solidFill>
                  <a:srgbClr val="001F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2E4C8-6BB7-A2FD-3DE5-278956411C82}"/>
              </a:ext>
            </a:extLst>
          </p:cNvPr>
          <p:cNvSpPr txBox="1"/>
          <p:nvPr/>
        </p:nvSpPr>
        <p:spPr>
          <a:xfrm>
            <a:off x="848880" y="1443221"/>
            <a:ext cx="10494240" cy="4902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부품 및 결함 검출 활용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항공기 부품의 형상 분석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표면 상태 확인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균열 및 손상 징후 검출에 활용 가능함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통해 육안 점검의 한계를 보완하고 정비 정확도 향상에 기여 가능함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정비 영상 및 이미지 분석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정비 과정에서 촬영한 영상과 이미지를 분석하여 부품 위치 확인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정렬 상태 점검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 여부 판단에 활용 가능함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특히 반복적인 검사 업무의 자동화 가능성이 확대됨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객체 인식 기반 작업 지원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카메라와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OpenCV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활용하면 공구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부품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체결 요소 등의 위치와 상태를 인식하여 작업자 지원 시스템 구현 가능함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통해 정비 작업의 효율성과 작업 오류 방지 효과 기대 가능함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모니터링 및 안전성 강화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영상 처리 기능을 통해 정비 현장의 작업 상태 모니터링과 위험 상황 감지에 활용 가능함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 정비 품질 향상뿐 아니라 작업 안전성 강화에도 기여 가능함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기술과의 결합 확장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딥러닝 기반 객체 검출 및 이상 탐지 기술과 결합하여 정밀한 항공정비 지원 시스템으로 확장 가능함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스마트 정비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예지 정비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검사 시스템 분야에서 활용성이 확대될 것으로 보임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pic>
        <p:nvPicPr>
          <p:cNvPr id="2050" name="Picture 2" descr="드론 활용 항공기 점검 /국토부">
            <a:extLst>
              <a:ext uri="{FF2B5EF4-FFF2-40B4-BE49-F238E27FC236}">
                <a16:creationId xmlns:a16="http://schemas.microsoft.com/office/drawing/2014/main" id="{822FB04F-E77C-A60E-472A-31D1C446D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100" y="4242682"/>
            <a:ext cx="2976563" cy="208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33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80EF3-BACB-0E36-DDD1-FFA955F3C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8430C81-FFD9-83C2-C08B-F6A9CCD84CAE}"/>
              </a:ext>
            </a:extLst>
          </p:cNvPr>
          <p:cNvSpPr txBox="1"/>
          <p:nvPr/>
        </p:nvSpPr>
        <p:spPr>
          <a:xfrm>
            <a:off x="22615137" y="13659254"/>
            <a:ext cx="2191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Page (2 / 15)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35094-1E07-35CF-50EC-DD6BA5DDDC22}"/>
              </a:ext>
            </a:extLst>
          </p:cNvPr>
          <p:cNvSpPr txBox="1"/>
          <p:nvPr/>
        </p:nvSpPr>
        <p:spPr>
          <a:xfrm>
            <a:off x="380086" y="742639"/>
            <a:ext cx="727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001F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참고문헌</a:t>
            </a:r>
            <a:endParaRPr lang="en-US" altLang="ko-KR" sz="2800" b="1" dirty="0">
              <a:solidFill>
                <a:srgbClr val="001F5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5F3F7-41CC-1BB9-14C3-0F800614E3A5}"/>
              </a:ext>
            </a:extLst>
          </p:cNvPr>
          <p:cNvSpPr txBox="1"/>
          <p:nvPr/>
        </p:nvSpPr>
        <p:spPr>
          <a:xfrm>
            <a:off x="380086" y="2002021"/>
            <a:ext cx="11570614" cy="3286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[1] Intelligent Traffic Monitoring with YOLOv11: A Case Study in Real-Time Vehicle Detection,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arXiv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2026.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[2] Harnessing LLMs for Document-Guided Fuzzing of OpenCV Library, </a:t>
            </a:r>
            <a:r>
              <a:rPr lang="en-US" altLang="ko-KR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arXiv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2025.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[3] Aircraft visual inspection: A systematic literature review, Image and Vision Computing, 2022.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[4] Visual inspection of aircraft skin: Automated pixel-level defect detection by instance segmentation, Chinese Journal of Aeronautics, 2022.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[5] OpenCV, Wikipedia.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사진 출처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https://en.wikipedia.org/wiki/OpenCV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http://www.atlasnews.co.kr/news/articleView.html?idxno=4513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042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96D8FE1-2005-2D0B-D587-3F9FD308D038}"/>
              </a:ext>
            </a:extLst>
          </p:cNvPr>
          <p:cNvSpPr/>
          <p:nvPr/>
        </p:nvSpPr>
        <p:spPr>
          <a:xfrm>
            <a:off x="4596438" y="3893885"/>
            <a:ext cx="2999124" cy="960813"/>
          </a:xfrm>
          <a:prstGeom prst="roundRect">
            <a:avLst>
              <a:gd name="adj" fmla="val 13193"/>
            </a:avLst>
          </a:prstGeom>
          <a:solidFill>
            <a:schemeClr val="bg1"/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경청해 주셔서 감사합니다</a:t>
            </a:r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Thank you for attention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2954F6-0FD2-471F-D9E9-67C0E6A33757}"/>
              </a:ext>
            </a:extLst>
          </p:cNvPr>
          <p:cNvSpPr/>
          <p:nvPr/>
        </p:nvSpPr>
        <p:spPr>
          <a:xfrm>
            <a:off x="1490783" y="2153886"/>
            <a:ext cx="9210434" cy="1434750"/>
          </a:xfrm>
          <a:prstGeom prst="rect">
            <a:avLst/>
          </a:prstGeom>
          <a:gradFill>
            <a:gsLst>
              <a:gs pos="0">
                <a:srgbClr val="2B3C7A"/>
              </a:gs>
              <a:gs pos="100000">
                <a:schemeClr val="tx2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44000" rtlCol="0" anchor="ctr"/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94576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9829</TotalTime>
  <Words>1045</Words>
  <Application>Microsoft Office PowerPoint</Application>
  <PresentationFormat>와이드스크린</PresentationFormat>
  <Paragraphs>135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Wingdings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호섭 이</dc:creator>
  <cp:lastModifiedBy>parkseeun</cp:lastModifiedBy>
  <cp:revision>112</cp:revision>
  <dcterms:created xsi:type="dcterms:W3CDTF">2024-06-30T08:29:51Z</dcterms:created>
  <dcterms:modified xsi:type="dcterms:W3CDTF">2026-04-20T13:41:59Z</dcterms:modified>
</cp:coreProperties>
</file>