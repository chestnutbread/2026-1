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bookmarkIdSeed="5">
  <p:sldMasterIdLst>
    <p:sldMasterId id="2147483667" r:id="rId1"/>
    <p:sldMasterId id="2147483680" r:id="rId2"/>
  </p:sldMasterIdLst>
  <p:notesMasterIdLst>
    <p:notesMasterId r:id="rId6"/>
  </p:notesMasterIdLst>
  <p:sldIdLst>
    <p:sldId id="1165" r:id="rId3"/>
    <p:sldId id="909" r:id="rId4"/>
    <p:sldId id="902" r:id="rId5"/>
  </p:sldIdLst>
  <p:sldSz cx="12192000" cy="6858000"/>
  <p:notesSz cx="6875463" cy="10002838"/>
  <p:embeddedFontLst>
    <p:embeddedFont>
      <p:font typeface="HY견고딕" panose="02030600000101010101" pitchFamily="18" charset="-127"/>
      <p:regular r:id="rId7"/>
    </p:embeddedFont>
    <p:embeddedFont>
      <p:font typeface="나눔바른고딕" panose="020B0603020101020101" pitchFamily="50" charset="-127"/>
      <p:regular r:id="rId8"/>
      <p:bold r:id="rId9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66"/>
    <a:srgbClr val="481C10"/>
    <a:srgbClr val="C6D9F1"/>
    <a:srgbClr val="343B55"/>
    <a:srgbClr val="FFFFFF"/>
    <a:srgbClr val="CCFFFF"/>
    <a:srgbClr val="FF00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>
      <p:cViewPr varScale="1">
        <p:scale>
          <a:sx n="105" d="100"/>
          <a:sy n="105" d="100"/>
        </p:scale>
        <p:origin x="92" y="1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367" cy="500142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4505" y="0"/>
            <a:ext cx="2979367" cy="500142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r">
              <a:defRPr sz="1300"/>
            </a:lvl1pPr>
          </a:lstStyle>
          <a:p>
            <a:fld id="{B566D3BD-FBDB-4003-B682-7FBC86E786E6}" type="datetimeFigureOut">
              <a:rPr lang="ko-KR" altLang="en-US" smtClean="0"/>
              <a:t>2026-04-12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65913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42" tIns="48221" rIns="96442" bIns="482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7547" y="4751348"/>
            <a:ext cx="5500370" cy="4501277"/>
          </a:xfrm>
          <a:prstGeom prst="rect">
            <a:avLst/>
          </a:prstGeom>
        </p:spPr>
        <p:txBody>
          <a:bodyPr vert="horz" lIns="96442" tIns="48221" rIns="96442" bIns="4822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00960"/>
            <a:ext cx="2979367" cy="500142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4505" y="9500960"/>
            <a:ext cx="2979367" cy="500142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r">
              <a:defRPr sz="1300"/>
            </a:lvl1pPr>
          </a:lstStyle>
          <a:p>
            <a:fld id="{E83688EB-A924-4AF7-964D-9261F321B7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176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"/>
          <p:cNvSpPr>
            <a:spLocks noGrp="1"/>
          </p:cNvSpPr>
          <p:nvPr>
            <p:ph type="title"/>
          </p:nvPr>
        </p:nvSpPr>
        <p:spPr>
          <a:xfrm>
            <a:off x="1055442" y="1268760"/>
            <a:ext cx="10084812" cy="1440159"/>
          </a:xfrm>
          <a:solidFill>
            <a:schemeClr val="bg1"/>
          </a:solidFill>
          <a:ln w="28575">
            <a:noFill/>
          </a:ln>
        </p:spPr>
        <p:txBody>
          <a:bodyPr>
            <a:normAutofit/>
          </a:bodyPr>
          <a:lstStyle>
            <a:lvl1pPr algn="ctr">
              <a:defRPr sz="21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2495602" y="3069285"/>
            <a:ext cx="7200799" cy="17998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170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495602" y="1988845"/>
            <a:ext cx="7200799" cy="1440159"/>
          </a:xfrm>
          <a:ln w="28575"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0"/>
            <a:ext cx="33536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47"/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44E15E-8BE1-4DBD-B7B5-0DCD53039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8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기본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en-US" sz="18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/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50000"/>
              </a:lnSpc>
              <a:defRPr sz="1100"/>
            </a:lvl4pPr>
            <a:lvl5pPr>
              <a:lnSpc>
                <a:spcPct val="15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955FE15-FF06-4FD5-934E-67115090662B}"/>
              </a:ext>
            </a:extLst>
          </p:cNvPr>
          <p:cNvCxnSpPr/>
          <p:nvPr userDrawn="1"/>
        </p:nvCxnSpPr>
        <p:spPr>
          <a:xfrm>
            <a:off x="2" y="656934"/>
            <a:ext cx="121786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621859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564734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B69DC3-DAE2-46CD-A714-0BBCB899BB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540798"/>
            <a:ext cx="1025205" cy="3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40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en-US" sz="18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/>
          <p:nvPr userDrawn="1"/>
        </p:nvCxnSpPr>
        <p:spPr>
          <a:xfrm>
            <a:off x="2" y="656934"/>
            <a:ext cx="121786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D9096C0-29DC-4482-ADBF-4D9F34724BF8}"/>
              </a:ext>
            </a:extLst>
          </p:cNvPr>
          <p:cNvSpPr txBox="1"/>
          <p:nvPr userDrawn="1"/>
        </p:nvSpPr>
        <p:spPr>
          <a:xfrm>
            <a:off x="11679391" y="6621859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바닥글 개체 틀 4">
            <a:extLst>
              <a:ext uri="{FF2B5EF4-FFF2-40B4-BE49-F238E27FC236}">
                <a16:creationId xmlns:a16="http://schemas.microsoft.com/office/drawing/2014/main" id="{2480E468-1B6D-4DFF-BF13-1F8AA471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564734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ED1B285-8CEE-4257-A298-3A7E8B6951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540798"/>
            <a:ext cx="1025205" cy="3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9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A571F21-2BB3-4C40-B25B-5B216416DA99}"/>
              </a:ext>
            </a:extLst>
          </p:cNvPr>
          <p:cNvSpPr txBox="1"/>
          <p:nvPr userDrawn="1"/>
        </p:nvSpPr>
        <p:spPr>
          <a:xfrm>
            <a:off x="11679391" y="6621859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바닥글 개체 틀 4">
            <a:extLst>
              <a:ext uri="{FF2B5EF4-FFF2-40B4-BE49-F238E27FC236}">
                <a16:creationId xmlns:a16="http://schemas.microsoft.com/office/drawing/2014/main" id="{65093DCD-350D-4AC7-81DF-EF6413CC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564734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7A5C85-5892-415E-AA9D-1F576BDFCB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540798"/>
            <a:ext cx="1025205" cy="3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91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제목 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>
            <a:extLst>
              <a:ext uri="{FF2B5EF4-FFF2-40B4-BE49-F238E27FC236}">
                <a16:creationId xmlns:a16="http://schemas.microsoft.com/office/drawing/2014/main" id="{08A61C59-50FC-474F-AE61-2BB31CB26A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en-US" sz="18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9" name="제목 10">
            <a:extLst>
              <a:ext uri="{FF2B5EF4-FFF2-40B4-BE49-F238E27FC236}">
                <a16:creationId xmlns:a16="http://schemas.microsoft.com/office/drawing/2014/main" id="{022725A1-143A-44AA-89B4-CB9914F3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78603" cy="53867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 algn="ctr">
              <a:defRPr sz="22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A2DAF64-0431-4005-9A75-663544D4209B}"/>
              </a:ext>
            </a:extLst>
          </p:cNvPr>
          <p:cNvCxnSpPr/>
          <p:nvPr userDrawn="1"/>
        </p:nvCxnSpPr>
        <p:spPr>
          <a:xfrm>
            <a:off x="2" y="529630"/>
            <a:ext cx="121786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C31EFFF-B69F-423E-9B7B-7A877BD3CFA2}"/>
              </a:ext>
            </a:extLst>
          </p:cNvPr>
          <p:cNvSpPr txBox="1"/>
          <p:nvPr userDrawn="1"/>
        </p:nvSpPr>
        <p:spPr>
          <a:xfrm>
            <a:off x="11679391" y="6621859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6B24A0D6-B61C-4C2B-9912-0E050D2F1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564734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17AEECD-23C8-49A0-9685-E12EE15E61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540798"/>
            <a:ext cx="1025205" cy="3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89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_제목 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en-US" sz="18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0" y="0"/>
            <a:ext cx="12178603" cy="53867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 algn="ctr">
              <a:defRPr sz="22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E33066B-EECE-4FA4-B7CA-261A7D175EB7}"/>
              </a:ext>
            </a:extLst>
          </p:cNvPr>
          <p:cNvCxnSpPr/>
          <p:nvPr userDrawn="1"/>
        </p:nvCxnSpPr>
        <p:spPr>
          <a:xfrm>
            <a:off x="2" y="529630"/>
            <a:ext cx="121786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1CFFAFDF-E8DF-428A-9540-0BB6329C4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486" y="592113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/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50000"/>
              </a:lnSpc>
              <a:defRPr sz="1100"/>
            </a:lvl4pPr>
            <a:lvl5pPr>
              <a:lnSpc>
                <a:spcPct val="15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B489C-EAF5-4121-B945-8637C0D682E2}"/>
              </a:ext>
            </a:extLst>
          </p:cNvPr>
          <p:cNvSpPr txBox="1"/>
          <p:nvPr userDrawn="1"/>
        </p:nvSpPr>
        <p:spPr>
          <a:xfrm>
            <a:off x="11679391" y="6621859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바닥글 개체 틀 4">
            <a:extLst>
              <a:ext uri="{FF2B5EF4-FFF2-40B4-BE49-F238E27FC236}">
                <a16:creationId xmlns:a16="http://schemas.microsoft.com/office/drawing/2014/main" id="{C6B4ADB5-529E-4321-A29A-6502B03D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564734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EEAE076-34AE-41F1-8DCD-F68381732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35" y="6540798"/>
            <a:ext cx="1025205" cy="31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0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2F71B5D-26F1-4FE0-84A5-9E9E10A269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D11D246-1AF1-4514-97FE-249B52F639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Unmanned Aircraft Systems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D029EDF-CBFF-43F4-87CE-4862A288E3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5E4E9-9FFE-49F5-A2C6-1D9374A27FC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508634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9403" y="0"/>
            <a:ext cx="11041227" cy="639762"/>
          </a:xfrm>
          <a:noFill/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9403" y="764704"/>
            <a:ext cx="11068811" cy="5544616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Unmanned Aircraft Systems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F382A3-9AA5-4ACA-9713-70A2FD540C0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966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sz="quarter"/>
          </p:nvPr>
        </p:nvSpPr>
        <p:spPr>
          <a:xfrm>
            <a:off x="1016000" y="38100"/>
            <a:ext cx="11176000" cy="762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7851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169B9-1408-4396-867B-75B2B031B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133EE9-FE98-4114-B911-81D901F47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6972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9C9FD7-B1E0-4664-9FFD-07AC90A3AEA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576525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텍스트박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4"/>
          <p:cNvSpPr txBox="1">
            <a:spLocks noChangeArrowheads="1"/>
          </p:cNvSpPr>
          <p:nvPr userDrawn="1"/>
        </p:nvSpPr>
        <p:spPr bwMode="auto">
          <a:xfrm>
            <a:off x="1" y="12700"/>
            <a:ext cx="8223739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9385" anchor="ctr"/>
          <a:lstStyle>
            <a:lvl1pPr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bg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en-US" altLang="en-US" sz="18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69486" y="764360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/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/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50000"/>
              </a:lnSpc>
              <a:defRPr sz="1100"/>
            </a:lvl4pPr>
            <a:lvl5pPr>
              <a:lnSpc>
                <a:spcPct val="150000"/>
              </a:lnSpc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955FE15-FF06-4FD5-934E-67115090662B}"/>
              </a:ext>
            </a:extLst>
          </p:cNvPr>
          <p:cNvCxnSpPr/>
          <p:nvPr userDrawn="1"/>
        </p:nvCxnSpPr>
        <p:spPr>
          <a:xfrm>
            <a:off x="2" y="656934"/>
            <a:ext cx="121786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697059-27CA-47A4-AD66-5BDB319F7946}"/>
              </a:ext>
            </a:extLst>
          </p:cNvPr>
          <p:cNvSpPr txBox="1"/>
          <p:nvPr userDrawn="1"/>
        </p:nvSpPr>
        <p:spPr>
          <a:xfrm>
            <a:off x="11679391" y="6545711"/>
            <a:ext cx="4431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814A9AE1-D86C-4A1A-9746-8CEC46E8A3E4}" type="slidenum"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모서리가 둥근 직사각형 33">
            <a:extLst>
              <a:ext uri="{FF2B5EF4-FFF2-40B4-BE49-F238E27FC236}">
                <a16:creationId xmlns:a16="http://schemas.microsoft.com/office/drawing/2014/main" id="{D2423FC3-17DB-421F-962A-78999BE68C08}"/>
              </a:ext>
            </a:extLst>
          </p:cNvPr>
          <p:cNvSpPr/>
          <p:nvPr userDrawn="1"/>
        </p:nvSpPr>
        <p:spPr>
          <a:xfrm>
            <a:off x="8949736" y="6442655"/>
            <a:ext cx="26584" cy="360000"/>
          </a:xfrm>
          <a:prstGeom prst="roundRect">
            <a:avLst/>
          </a:prstGeom>
          <a:gradFill flip="none" rotWithShape="1">
            <a:gsLst>
              <a:gs pos="0">
                <a:srgbClr val="C7C7C7"/>
              </a:gs>
              <a:gs pos="50000">
                <a:schemeClr val="bg1">
                  <a:lumMod val="95000"/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모서리가 둥근 직사각형 34">
            <a:extLst>
              <a:ext uri="{FF2B5EF4-FFF2-40B4-BE49-F238E27FC236}">
                <a16:creationId xmlns:a16="http://schemas.microsoft.com/office/drawing/2014/main" id="{AAC4017D-75CF-4AC5-84B4-23ABC4D72FA3}"/>
              </a:ext>
            </a:extLst>
          </p:cNvPr>
          <p:cNvSpPr/>
          <p:nvPr userDrawn="1"/>
        </p:nvSpPr>
        <p:spPr>
          <a:xfrm>
            <a:off x="3215680" y="6442655"/>
            <a:ext cx="26584" cy="360000"/>
          </a:xfrm>
          <a:prstGeom prst="roundRect">
            <a:avLst/>
          </a:prstGeom>
          <a:gradFill flip="none" rotWithShape="1">
            <a:gsLst>
              <a:gs pos="0">
                <a:srgbClr val="C7C7C7"/>
              </a:gs>
              <a:gs pos="50000">
                <a:schemeClr val="bg1">
                  <a:lumMod val="95000"/>
                  <a:alpha val="36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바닥글 개체 틀 4">
            <a:extLst>
              <a:ext uri="{FF2B5EF4-FFF2-40B4-BE49-F238E27FC236}">
                <a16:creationId xmlns:a16="http://schemas.microsoft.com/office/drawing/2014/main" id="{CE3FD8F2-C375-4565-8CA0-273C0E8A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6773" y="6488587"/>
            <a:ext cx="5542035" cy="268139"/>
          </a:xfrm>
        </p:spPr>
        <p:txBody>
          <a:bodyPr/>
          <a:lstStyle>
            <a:lvl1pPr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sp>
        <p:nvSpPr>
          <p:cNvPr id="18" name="바닥글 개체 틀 4">
            <a:extLst>
              <a:ext uri="{FF2B5EF4-FFF2-40B4-BE49-F238E27FC236}">
                <a16:creationId xmlns:a16="http://schemas.microsoft.com/office/drawing/2014/main" id="{B3EE664F-EFE3-4487-93A4-1B735BB5673D}"/>
              </a:ext>
            </a:extLst>
          </p:cNvPr>
          <p:cNvSpPr txBox="1">
            <a:spLocks/>
          </p:cNvSpPr>
          <p:nvPr userDrawn="1"/>
        </p:nvSpPr>
        <p:spPr>
          <a:xfrm>
            <a:off x="1395480" y="6488587"/>
            <a:ext cx="956105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83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항공학부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FAB3A29-0DBA-490C-B534-95B63819D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83" y="6483854"/>
            <a:ext cx="1356912" cy="316629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C2A0C14-8CC0-42FD-8CE9-1E35F0866E14}"/>
              </a:ext>
            </a:extLst>
          </p:cNvPr>
          <p:cNvCxnSpPr/>
          <p:nvPr userDrawn="1"/>
        </p:nvCxnSpPr>
        <p:spPr>
          <a:xfrm>
            <a:off x="12926" y="6427458"/>
            <a:ext cx="12178601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659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_텍스트박스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D15C9C-91EA-4CF4-BB22-C3180AB9C192}"/>
              </a:ext>
            </a:extLst>
          </p:cNvPr>
          <p:cNvSpPr/>
          <p:nvPr userDrawn="1"/>
        </p:nvSpPr>
        <p:spPr>
          <a:xfrm>
            <a:off x="0" y="-13990"/>
            <a:ext cx="12192000" cy="499474"/>
          </a:xfrm>
          <a:prstGeom prst="rect">
            <a:avLst/>
          </a:prstGeom>
          <a:solidFill>
            <a:srgbClr val="32487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69486" y="476672"/>
            <a:ext cx="11831468" cy="499474"/>
          </a:xfrm>
          <a:prstGeom prst="rect">
            <a:avLst/>
          </a:prstGeom>
        </p:spPr>
        <p:txBody>
          <a:bodyPr/>
          <a:lstStyle>
            <a:lvl1pPr marL="237398" indent="-237398">
              <a:lnSpc>
                <a:spcPct val="150000"/>
              </a:lnSpc>
              <a:buFontTx/>
              <a:buBlip>
                <a:blip r:embed="rId2"/>
              </a:buBlip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538163" indent="-220663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 marL="791327" indent="-158266">
              <a:lnSpc>
                <a:spcPct val="150000"/>
              </a:lnSpc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lnSpc>
                <a:spcPct val="150000"/>
              </a:lnSpc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6DAA6-1AD3-4439-997C-0C67595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6" y="0"/>
            <a:ext cx="10563018" cy="485484"/>
          </a:xfrm>
        </p:spPr>
        <p:txBody>
          <a:bodyPr>
            <a:normAutofit/>
          </a:bodyPr>
          <a:lstStyle>
            <a:lvl1pPr>
              <a:defRPr sz="2000">
                <a:solidFill>
                  <a:srgbClr val="F0F0F2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79B8E4-7D8C-4964-9474-AD9A3D2AAAB8}"/>
              </a:ext>
            </a:extLst>
          </p:cNvPr>
          <p:cNvSpPr txBox="1"/>
          <p:nvPr userDrawn="1"/>
        </p:nvSpPr>
        <p:spPr>
          <a:xfrm>
            <a:off x="11730790" y="6617729"/>
            <a:ext cx="443127" cy="22757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 </a:t>
            </a:r>
            <a:fld id="{814A9AE1-D86C-4A1A-9746-8CEC46E8A3E4}" type="slidenum">
              <a:rPr lang="ko-KR" altLang="en-US" sz="900" b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pPr algn="ctr"/>
              <a:t>‹#›</a:t>
            </a:fld>
            <a:r>
              <a:rPr lang="ko-KR" altLang="en-US" sz="9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9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-</a:t>
            </a:r>
            <a:endParaRPr lang="ko-KR" altLang="en-US" sz="900" b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바닥글 개체 틀 5">
            <a:extLst>
              <a:ext uri="{FF2B5EF4-FFF2-40B4-BE49-F238E27FC236}">
                <a16:creationId xmlns:a16="http://schemas.microsoft.com/office/drawing/2014/main" id="{026A9CF2-532D-46A6-94CF-0BA0AEBB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1973" y="6617729"/>
            <a:ext cx="5058643" cy="221087"/>
          </a:xfrm>
        </p:spPr>
        <p:txBody>
          <a:bodyPr/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/>
              <a:t>MATLAB</a:t>
            </a:r>
            <a:r>
              <a:rPr lang="ko-KR" altLang="en-US"/>
              <a:t>기반 오픈소스 시뮬레이터 개발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371E3F-9FDB-CA3A-99AC-A07215FB5E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53001" y="-13990"/>
            <a:ext cx="1639000" cy="4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1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14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3086"/>
            <a:ext cx="10515600" cy="81973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38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746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53683"/>
            <a:ext cx="5181600" cy="50232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53683"/>
            <a:ext cx="5181600" cy="502328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763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974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0461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79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545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9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1429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5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4165600" y="6473233"/>
            <a:ext cx="3860800" cy="2681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  <p:sp>
        <p:nvSpPr>
          <p:cNvPr id="7" name="제목 개체 틀 6"/>
          <p:cNvSpPr>
            <a:spLocks noGrp="1"/>
          </p:cNvSpPr>
          <p:nvPr>
            <p:ph type="title"/>
          </p:nvPr>
        </p:nvSpPr>
        <p:spPr>
          <a:xfrm>
            <a:off x="144712" y="94860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ko-KR" altLang="en-US"/>
              <a:t>마스터 제목 스타일 편집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44E15E-8BE1-4DBD-B7B5-0DCD530390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536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0" r:id="rId2"/>
    <p:sldLayoutId id="2147483669" r:id="rId3"/>
    <p:sldLayoutId id="2147483668" r:id="rId4"/>
    <p:sldLayoutId id="2147483674" r:id="rId5"/>
    <p:sldLayoutId id="2147483675" r:id="rId6"/>
    <p:sldLayoutId id="2147483676" r:id="rId7"/>
    <p:sldLayoutId id="2147483678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</p:sldLayoutIdLst>
  <p:hf sldNum="0" hdr="0" dt="0"/>
  <p:txStyles>
    <p:titleStyle>
      <a:lvl1pPr algn="l" defTabSz="633062" rtl="0" eaLnBrk="1" latinLnBrk="1" hangingPunct="1">
        <a:spcBef>
          <a:spcPct val="0"/>
        </a:spcBef>
        <a:buNone/>
        <a:defRPr lang="ko-KR" altLang="en-US" sz="1661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398" indent="-237398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2216" kern="1200">
          <a:solidFill>
            <a:schemeClr val="tx1"/>
          </a:solidFill>
          <a:latin typeface="+mn-lt"/>
          <a:ea typeface="+mn-ea"/>
          <a:cs typeface="+mn-cs"/>
        </a:defRPr>
      </a:lvl1pPr>
      <a:lvl2pPr marL="514363" indent="-197832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939" kern="1200">
          <a:solidFill>
            <a:schemeClr val="tx1"/>
          </a:solidFill>
          <a:latin typeface="+mn-lt"/>
          <a:ea typeface="+mn-ea"/>
          <a:cs typeface="+mn-cs"/>
        </a:defRPr>
      </a:lvl2pPr>
      <a:lvl3pPr marL="791327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107859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–"/>
        <a:defRPr sz="1385" kern="1200">
          <a:solidFill>
            <a:schemeClr val="tx1"/>
          </a:solidFill>
          <a:latin typeface="+mn-lt"/>
          <a:ea typeface="+mn-ea"/>
          <a:cs typeface="+mn-cs"/>
        </a:defRPr>
      </a:lvl4pPr>
      <a:lvl5pPr marL="142439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»"/>
        <a:defRPr sz="1385" kern="1200">
          <a:solidFill>
            <a:schemeClr val="tx1"/>
          </a:solidFill>
          <a:latin typeface="+mn-lt"/>
          <a:ea typeface="+mn-ea"/>
          <a:cs typeface="+mn-cs"/>
        </a:defRPr>
      </a:lvl5pPr>
      <a:lvl6pPr marL="1740920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7pPr>
      <a:lvl8pPr marL="237398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8pPr>
      <a:lvl9pPr marL="2690513" indent="-158266" algn="l" defTabSz="633062" rtl="0" eaLnBrk="1" latinLnBrk="1" hangingPunct="1">
        <a:spcBef>
          <a:spcPct val="20000"/>
        </a:spcBef>
        <a:buFont typeface="Arial" panose="020B0604020202020204" pitchFamily="34" charset="0"/>
        <a:buChar char="•"/>
        <a:defRPr sz="13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31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62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93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24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55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86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717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48" algn="l" defTabSz="633062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664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19500"/>
            <a:ext cx="10515600" cy="5058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Unmanned Aircraft Systems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72309-8F64-49BC-A5A7-BB6C36B0A0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77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hyperlink" Target="https://www.flyability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CEBF78-2272-4808-B3B3-D02077A1C4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1600" dirty="0"/>
              <a:t>무인항공기 시스템과 관련해 특정 주제를 정하고 관련한 기술동향을 조사</a:t>
            </a:r>
            <a:r>
              <a:rPr lang="en-US" altLang="ko-KR" sz="1600" dirty="0"/>
              <a:t>/</a:t>
            </a:r>
            <a:r>
              <a:rPr lang="ko-KR" altLang="en-US" sz="1600" dirty="0"/>
              <a:t>분석하여 발표</a:t>
            </a:r>
            <a:endParaRPr lang="en-US" altLang="ko-KR" sz="1600" dirty="0"/>
          </a:p>
          <a:p>
            <a:r>
              <a:rPr lang="ko-KR" altLang="en-US" sz="1600" dirty="0"/>
              <a:t>발표 방법</a:t>
            </a:r>
            <a:endParaRPr lang="en-US" altLang="ko-KR" sz="1600" dirty="0"/>
          </a:p>
          <a:p>
            <a:pPr lvl="1"/>
            <a:r>
              <a:rPr lang="ko-KR" altLang="en-US" sz="1200" dirty="0"/>
              <a:t>발표</a:t>
            </a:r>
            <a:r>
              <a:rPr lang="en-US" altLang="ko-KR" sz="1200" dirty="0"/>
              <a:t> 12</a:t>
            </a:r>
            <a:r>
              <a:rPr lang="ko-KR" altLang="en-US" sz="1200" dirty="0"/>
              <a:t>분</a:t>
            </a:r>
            <a:r>
              <a:rPr lang="en-US" altLang="ko-KR" sz="1200" dirty="0"/>
              <a:t>, </a:t>
            </a:r>
            <a:r>
              <a:rPr lang="ko-KR" altLang="en-US" sz="1200" dirty="0"/>
              <a:t>질의응답 </a:t>
            </a:r>
            <a:r>
              <a:rPr lang="en-US" altLang="ko-KR" sz="1200" dirty="0"/>
              <a:t>3</a:t>
            </a:r>
            <a:r>
              <a:rPr lang="ko-KR" altLang="en-US" sz="1200" dirty="0"/>
              <a:t>분</a:t>
            </a:r>
            <a:endParaRPr lang="en-US" altLang="ko-KR" sz="1200" dirty="0"/>
          </a:p>
          <a:p>
            <a:pPr lvl="1"/>
            <a:r>
              <a:rPr lang="ko-KR" altLang="en-US" sz="1200" dirty="0"/>
              <a:t>발표형식 </a:t>
            </a:r>
            <a:r>
              <a:rPr lang="en-US" altLang="ko-KR" sz="1200" dirty="0"/>
              <a:t>: </a:t>
            </a:r>
            <a:r>
              <a:rPr lang="ko-KR" altLang="en-US" sz="1200" dirty="0"/>
              <a:t>학술대회 논문발표 형식을 따르되 핵심내용 위주로 발표</a:t>
            </a:r>
            <a:r>
              <a:rPr lang="en-US" altLang="ko-KR" sz="1200" dirty="0"/>
              <a:t>(</a:t>
            </a:r>
            <a:r>
              <a:rPr lang="ko-KR" altLang="en-US" sz="1200" dirty="0"/>
              <a:t>시간준수</a:t>
            </a:r>
            <a:r>
              <a:rPr lang="en-US" altLang="ko-KR" sz="1200" dirty="0"/>
              <a:t>)</a:t>
            </a:r>
          </a:p>
          <a:p>
            <a:pPr lvl="1"/>
            <a:r>
              <a:rPr lang="ko-KR" altLang="en-US" sz="1200" dirty="0"/>
              <a:t>발표자료 </a:t>
            </a:r>
            <a:r>
              <a:rPr lang="en-US" altLang="ko-KR" sz="1200" dirty="0"/>
              <a:t>: </a:t>
            </a:r>
            <a:r>
              <a:rPr lang="ko-KR" altLang="en-US" sz="1200" dirty="0"/>
              <a:t>페이지 제한은 없으나 </a:t>
            </a:r>
            <a:r>
              <a:rPr lang="en-US" altLang="ko-KR" sz="1200" dirty="0"/>
              <a:t>10~15</a:t>
            </a:r>
            <a:r>
              <a:rPr lang="ko-KR" altLang="en-US" sz="1200" dirty="0"/>
              <a:t>장 권장</a:t>
            </a:r>
            <a:r>
              <a:rPr lang="en-US" altLang="ko-KR" sz="1200" dirty="0"/>
              <a:t>, *</a:t>
            </a:r>
            <a:r>
              <a:rPr lang="ko-KR" altLang="en-US" sz="1200" dirty="0"/>
              <a:t>발표 전까지 에델바이스 과제 탭에 제출</a:t>
            </a:r>
            <a:r>
              <a:rPr lang="en-US" altLang="ko-KR" sz="1200" dirty="0"/>
              <a:t>, </a:t>
            </a:r>
            <a:r>
              <a:rPr lang="ko-KR" altLang="en-US" sz="1200" dirty="0"/>
              <a:t>수업 전에 </a:t>
            </a:r>
            <a:r>
              <a:rPr lang="ko-KR" altLang="en-US" sz="1200" dirty="0" err="1"/>
              <a:t>전자교탁에</a:t>
            </a:r>
            <a:r>
              <a:rPr lang="ko-KR" altLang="en-US" sz="1200" dirty="0"/>
              <a:t> 준비해 놓을 것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팀원은 </a:t>
            </a:r>
            <a:r>
              <a:rPr lang="en-US" altLang="ko-KR" sz="1200" dirty="0"/>
              <a:t>2~3</a:t>
            </a:r>
            <a:r>
              <a:rPr lang="ko-KR" altLang="en-US" sz="1200" dirty="0"/>
              <a:t>명으로 구성하되</a:t>
            </a:r>
            <a:r>
              <a:rPr lang="en-US" altLang="ko-KR" sz="1200" dirty="0"/>
              <a:t> </a:t>
            </a:r>
            <a:r>
              <a:rPr lang="ko-KR" altLang="en-US" sz="1200" dirty="0"/>
              <a:t>역할을 나눠서 모두 발표</a:t>
            </a:r>
            <a:endParaRPr lang="en-US" altLang="ko-KR" sz="1200" dirty="0"/>
          </a:p>
          <a:p>
            <a:r>
              <a:rPr lang="ko-KR" altLang="en-US" sz="1600" dirty="0"/>
              <a:t>주의 사항</a:t>
            </a:r>
            <a:endParaRPr lang="en-US" altLang="ko-KR" sz="1600" dirty="0"/>
          </a:p>
          <a:p>
            <a:pPr lvl="1"/>
            <a:r>
              <a:rPr lang="ko-KR" altLang="en-US" sz="1400" dirty="0">
                <a:solidFill>
                  <a:srgbClr val="0000FF"/>
                </a:solidFill>
              </a:rPr>
              <a:t>참고문헌은 </a:t>
            </a:r>
            <a:r>
              <a:rPr lang="en-US" altLang="ko-KR" sz="1400" dirty="0">
                <a:solidFill>
                  <a:srgbClr val="0000FF"/>
                </a:solidFill>
              </a:rPr>
              <a:t>20</a:t>
            </a:r>
            <a:r>
              <a:rPr lang="ko-KR" altLang="en-US" sz="1400" dirty="0">
                <a:solidFill>
                  <a:srgbClr val="0000FF"/>
                </a:solidFill>
              </a:rPr>
              <a:t>개 이상을 포함하되</a:t>
            </a:r>
            <a:r>
              <a:rPr lang="en-US" altLang="ko-KR" sz="1400" dirty="0">
                <a:solidFill>
                  <a:srgbClr val="0000FF"/>
                </a:solidFill>
              </a:rPr>
              <a:t>, </a:t>
            </a:r>
            <a:r>
              <a:rPr lang="ko-KR" altLang="en-US" sz="1400" dirty="0">
                <a:solidFill>
                  <a:srgbClr val="0000FF"/>
                </a:solidFill>
              </a:rPr>
              <a:t>각 페이지별로 내용과 매칭이 되도록 할 것</a:t>
            </a:r>
            <a:r>
              <a:rPr lang="en-US" altLang="ko-KR" sz="1400" dirty="0">
                <a:solidFill>
                  <a:srgbClr val="0000FF"/>
                </a:solidFill>
              </a:rPr>
              <a:t>.</a:t>
            </a:r>
          </a:p>
          <a:p>
            <a:pPr lvl="1"/>
            <a:r>
              <a:rPr lang="ko-KR" altLang="en-US" sz="1400" dirty="0">
                <a:solidFill>
                  <a:srgbClr val="0000FF"/>
                </a:solidFill>
              </a:rPr>
              <a:t>교수는 학술대회 좌장 역할을 담당하고</a:t>
            </a:r>
            <a:r>
              <a:rPr lang="en-US" altLang="ko-KR" sz="1400" dirty="0">
                <a:solidFill>
                  <a:srgbClr val="0000FF"/>
                </a:solidFill>
              </a:rPr>
              <a:t>, </a:t>
            </a:r>
            <a:r>
              <a:rPr lang="ko-KR" altLang="en-US" sz="1400" dirty="0">
                <a:solidFill>
                  <a:srgbClr val="0000FF"/>
                </a:solidFill>
              </a:rPr>
              <a:t>다른 팀 학생들이 질문을 함</a:t>
            </a:r>
            <a:endParaRPr lang="en-US" altLang="ko-KR" sz="1400" dirty="0">
              <a:solidFill>
                <a:srgbClr val="0000FF"/>
              </a:solidFill>
            </a:endParaRPr>
          </a:p>
          <a:p>
            <a:r>
              <a:rPr lang="ko-KR" altLang="en-US" sz="1600" dirty="0"/>
              <a:t>평가 기준</a:t>
            </a:r>
            <a:endParaRPr lang="en-US" altLang="ko-KR" sz="1600" dirty="0"/>
          </a:p>
          <a:p>
            <a:pPr lvl="1"/>
            <a:r>
              <a:rPr lang="ko-KR" altLang="en-US" sz="1200" dirty="0"/>
              <a:t>연구의 독창성</a:t>
            </a:r>
            <a:r>
              <a:rPr lang="en-US" altLang="ko-KR" sz="1200" dirty="0"/>
              <a:t>(20) : </a:t>
            </a:r>
            <a:r>
              <a:rPr lang="ko-KR" altLang="en-US" sz="1200" dirty="0"/>
              <a:t>주제선정</a:t>
            </a:r>
            <a:r>
              <a:rPr lang="en-US" altLang="ko-KR" sz="1200" dirty="0"/>
              <a:t>, </a:t>
            </a:r>
            <a:r>
              <a:rPr lang="ko-KR" altLang="en-US" sz="1200" dirty="0"/>
              <a:t>발표방식 등이 창의적이고 독창적인가</a:t>
            </a:r>
            <a:r>
              <a:rPr lang="en-US" altLang="ko-KR" sz="1200" dirty="0"/>
              <a:t>?</a:t>
            </a:r>
          </a:p>
          <a:p>
            <a:pPr lvl="1"/>
            <a:r>
              <a:rPr lang="ko-KR" altLang="en-US" sz="1200" dirty="0"/>
              <a:t>자료 조사 및 작성</a:t>
            </a:r>
            <a:r>
              <a:rPr lang="en-US" altLang="ko-KR" sz="1200" dirty="0"/>
              <a:t>(40) : </a:t>
            </a:r>
            <a:r>
              <a:rPr lang="ko-KR" altLang="en-US" sz="1200" dirty="0"/>
              <a:t>자료조사를 얼마나 자세히 했는가</a:t>
            </a:r>
            <a:r>
              <a:rPr lang="en-US" altLang="ko-KR" sz="1200" dirty="0"/>
              <a:t>? </a:t>
            </a:r>
            <a:r>
              <a:rPr lang="ko-KR" altLang="en-US" sz="1200" dirty="0"/>
              <a:t>깔끔하고 이해하기 쉽게 작성했는가</a:t>
            </a:r>
            <a:r>
              <a:rPr lang="en-US" altLang="ko-KR" sz="1200" dirty="0"/>
              <a:t>?</a:t>
            </a:r>
          </a:p>
          <a:p>
            <a:pPr lvl="1"/>
            <a:r>
              <a:rPr lang="ko-KR" altLang="en-US" sz="1200" dirty="0"/>
              <a:t>발표 능력</a:t>
            </a:r>
            <a:r>
              <a:rPr lang="en-US" altLang="ko-KR" sz="1200" dirty="0"/>
              <a:t>(20) : </a:t>
            </a:r>
            <a:r>
              <a:rPr lang="ko-KR" altLang="en-US" sz="1200" dirty="0"/>
              <a:t>발표를 매끄럽고 집중할 수 있게 하였는가</a:t>
            </a:r>
            <a:r>
              <a:rPr lang="en-US" altLang="ko-KR" sz="1200" dirty="0"/>
              <a:t>?</a:t>
            </a:r>
          </a:p>
          <a:p>
            <a:pPr lvl="1"/>
            <a:r>
              <a:rPr lang="ko-KR" altLang="en-US" sz="1200" dirty="0"/>
              <a:t>질문</a:t>
            </a:r>
            <a:r>
              <a:rPr lang="en-US" altLang="ko-KR" sz="1200" dirty="0"/>
              <a:t>/</a:t>
            </a:r>
            <a:r>
              <a:rPr lang="ko-KR" altLang="en-US" sz="1200" dirty="0"/>
              <a:t>응답 능력</a:t>
            </a:r>
            <a:r>
              <a:rPr lang="en-US" altLang="ko-KR" sz="1200" dirty="0"/>
              <a:t>(20) : </a:t>
            </a:r>
            <a:r>
              <a:rPr lang="ko-KR" altLang="en-US" sz="1200" dirty="0"/>
              <a:t>질문의 핵심을 파악하고 명확하게 대답하였는가</a:t>
            </a:r>
            <a:r>
              <a:rPr lang="en-US" altLang="ko-KR" sz="1200" dirty="0"/>
              <a:t>?</a:t>
            </a:r>
          </a:p>
          <a:p>
            <a:pPr lvl="1"/>
            <a:endParaRPr lang="ko-KR" altLang="en-US" sz="12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0F3B429-C097-40B4-BF85-BAF5DCAA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Mid-term project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B8CE5B-C7ED-4DB2-BB17-86A7300C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Unmanned Aircraft Systems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11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41D0FD-77A9-976E-7547-26A0B5AE09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소비전력 실측 및 문헌조사를 통한 </a:t>
            </a:r>
            <a:r>
              <a:rPr lang="ko-KR" altLang="en-US" dirty="0" err="1"/>
              <a:t>호버링</a:t>
            </a:r>
            <a:r>
              <a:rPr lang="ko-KR" altLang="en-US" dirty="0"/>
              <a:t> 비행시간 계산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AB529E2-5FAF-1A12-6303-5868ED61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예시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4D460E-71DB-7992-839E-4B6F8E5481F5}"/>
              </a:ext>
            </a:extLst>
          </p:cNvPr>
          <p:cNvSpPr txBox="1"/>
          <p:nvPr/>
        </p:nvSpPr>
        <p:spPr>
          <a:xfrm>
            <a:off x="335360" y="5751547"/>
            <a:ext cx="1171237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/>
              <a:t>[1]Marusic et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al, “The Effects of Blockage on the Performance of Small Propellers” Journal of Fluid Mechanics, 2016.</a:t>
            </a:r>
          </a:p>
          <a:p>
            <a:r>
              <a:rPr lang="en-US" altLang="ko-KR" sz="900" b="1" dirty="0"/>
              <a:t>[2] </a:t>
            </a:r>
            <a:r>
              <a:rPr lang="en-US" altLang="ko-KR" sz="900" b="1" dirty="0" err="1"/>
              <a:t>Caprace</a:t>
            </a:r>
            <a:r>
              <a:rPr lang="en-US" altLang="ko-KR" sz="900" b="1" dirty="0"/>
              <a:t> et al, “Effects of Rotor-Airframe Interaction on the Aeromechanics and Wake of a Quadcopter in Forward Flight,” Aerospace Science and Technology, Vol. 123, 2022, 107473.</a:t>
            </a:r>
          </a:p>
          <a:p>
            <a:r>
              <a:rPr lang="en-US" altLang="ko-KR" sz="900" b="1" dirty="0"/>
              <a:t>[3] Sage</a:t>
            </a:r>
            <a:r>
              <a:rPr lang="ko-KR" altLang="en-US" sz="900" b="1" dirty="0"/>
              <a:t> </a:t>
            </a:r>
            <a:r>
              <a:rPr lang="en-US" altLang="ko-KR" sz="900" b="1" dirty="0"/>
              <a:t>Herz et al, “Effects of rotor–rotor and rotor–body interactions on quadrotor vehicle performance for multiple flight co­nfigurations”, Aerospace Science and Technology, Vol.158,2025</a:t>
            </a:r>
          </a:p>
          <a:p>
            <a:r>
              <a:rPr lang="en-US" altLang="ko-KR" sz="900" b="1" dirty="0"/>
              <a:t>[4] Daniel Evans et al, “Analysis of the impact of manufacturing-induced cell-to-cell variation for high-power applications”, Journal of Power Sources, Volume 614, 2024</a:t>
            </a:r>
          </a:p>
          <a:p>
            <a:r>
              <a:rPr lang="en-US" altLang="ko-KR" sz="900" b="1" dirty="0"/>
              <a:t>[5] </a:t>
            </a:r>
            <a:r>
              <a:rPr lang="en-US" altLang="ko-KR" sz="900" b="1" dirty="0" err="1"/>
              <a:t>Luttfi</a:t>
            </a:r>
            <a:r>
              <a:rPr lang="en-US" altLang="ko-KR" sz="900" b="1" dirty="0"/>
              <a:t> A. AI-Haddad et al, “Energy Consumption and efficiency degradation predictive analysis in unmanned aerial vehicle batteries using deep neural networks”, Advances in Science and Technology Research Journal, Vol.19,No.5, 2025</a:t>
            </a:r>
          </a:p>
          <a:p>
            <a:r>
              <a:rPr lang="en-US" altLang="ko-KR" sz="900" b="1" dirty="0"/>
              <a:t>[6] Mariga et al. “Measuring battery discharge characteristics for accurate UAV endurance estimation”. The Aeronautical Journal. 124. 1-15. 10.1017/aer.2020.16.</a:t>
            </a:r>
            <a:endParaRPr lang="ko-KR" altLang="en-US" sz="900" b="1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420C40-C07B-7B9A-DC8F-6DC25B96FBEB}"/>
              </a:ext>
            </a:extLst>
          </p:cNvPr>
          <p:cNvGrpSpPr/>
          <p:nvPr/>
        </p:nvGrpSpPr>
        <p:grpSpPr>
          <a:xfrm>
            <a:off x="551384" y="1052736"/>
            <a:ext cx="8164192" cy="4735621"/>
            <a:chOff x="964454" y="1412834"/>
            <a:chExt cx="7588128" cy="480433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8B955D3A-FF5D-D261-7D1C-F4B00E857AF0}"/>
                </a:ext>
              </a:extLst>
            </p:cNvPr>
            <p:cNvSpPr/>
            <p:nvPr/>
          </p:nvSpPr>
          <p:spPr>
            <a:xfrm>
              <a:off x="964454" y="2049534"/>
              <a:ext cx="2520280" cy="432048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모터 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1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개당 </a:t>
              </a:r>
              <a:r>
                <a:rPr lang="ko-KR" altLang="en-US" sz="1400" b="1" dirty="0" err="1">
                  <a:solidFill>
                    <a:schemeClr val="tx1"/>
                  </a:solidFill>
                </a:rPr>
                <a:t>요구추력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=0.397kgf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AE63FB5-2F1C-62D7-434D-99FCEAB7D410}"/>
                </a:ext>
              </a:extLst>
            </p:cNvPr>
            <p:cNvSpPr/>
            <p:nvPr/>
          </p:nvSpPr>
          <p:spPr>
            <a:xfrm>
              <a:off x="964454" y="1412834"/>
              <a:ext cx="2520280" cy="432048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비행체 </a:t>
              </a:r>
              <a:r>
                <a:rPr lang="ko-KR" altLang="en-US" sz="1400" b="1" dirty="0" err="1">
                  <a:solidFill>
                    <a:schemeClr val="tx1"/>
                  </a:solidFill>
                </a:rPr>
                <a:t>총중량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=1.59kg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C3D38F1-686A-6ECC-0FE0-3508C18B4953}"/>
                </a:ext>
              </a:extLst>
            </p:cNvPr>
            <p:cNvSpPr/>
            <p:nvPr/>
          </p:nvSpPr>
          <p:spPr>
            <a:xfrm>
              <a:off x="964454" y="3228265"/>
              <a:ext cx="2520280" cy="648072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유효면적 차단 및 간섭을 고려한</a:t>
              </a:r>
              <a:endParaRPr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모터당 </a:t>
              </a:r>
              <a:r>
                <a:rPr lang="ko-KR" altLang="en-US" sz="1400" b="1" dirty="0" err="1">
                  <a:solidFill>
                    <a:schemeClr val="tx1"/>
                  </a:solidFill>
                </a:rPr>
                <a:t>요구추력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=0.492kgf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D8AE24B-3080-FD49-6AB8-319EA60A405E}"/>
                </a:ext>
              </a:extLst>
            </p:cNvPr>
            <p:cNvCxnSpPr>
              <a:stCxn id="6" idx="2"/>
              <a:endCxn id="5" idx="0"/>
            </p:cNvCxnSpPr>
            <p:nvPr/>
          </p:nvCxnSpPr>
          <p:spPr>
            <a:xfrm>
              <a:off x="2224594" y="1844882"/>
              <a:ext cx="0" cy="2046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FE2E671E-19C0-7A60-7DF9-F8AC916ADFBD}"/>
                </a:ext>
              </a:extLst>
            </p:cNvPr>
            <p:cNvCxnSpPr>
              <a:cxnSpLocks/>
              <a:stCxn id="5" idx="2"/>
              <a:endCxn id="7" idx="0"/>
            </p:cNvCxnSpPr>
            <p:nvPr/>
          </p:nvCxnSpPr>
          <p:spPr>
            <a:xfrm>
              <a:off x="2224594" y="2481582"/>
              <a:ext cx="0" cy="7466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C74131-80EC-5F43-952B-E4E815A9337F}"/>
                </a:ext>
              </a:extLst>
            </p:cNvPr>
            <p:cNvSpPr txBox="1"/>
            <p:nvPr/>
          </p:nvSpPr>
          <p:spPr>
            <a:xfrm>
              <a:off x="2207568" y="2564904"/>
              <a:ext cx="2808310" cy="689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 err="1"/>
                <a:t>로터</a:t>
              </a:r>
              <a:r>
                <a:rPr lang="ko-KR" altLang="en-US" sz="1100" b="1" dirty="0"/>
                <a:t> 디스크 면적 </a:t>
              </a:r>
              <a:r>
                <a:rPr lang="en-US" altLang="ko-KR" sz="1100" b="1" dirty="0"/>
                <a:t>14.5% </a:t>
              </a:r>
              <a:r>
                <a:rPr lang="ko-KR" altLang="en-US" sz="1100" b="1" dirty="0"/>
                <a:t>차단에 의한 </a:t>
              </a:r>
              <a:r>
                <a:rPr lang="ko-KR" altLang="en-US" sz="1100" b="1" dirty="0" err="1"/>
                <a:t>하항력</a:t>
              </a:r>
              <a:r>
                <a:rPr lang="ko-KR" altLang="en-US" sz="1100" b="1" dirty="0"/>
                <a:t> 효과</a:t>
              </a:r>
              <a:r>
                <a:rPr lang="en-US" altLang="ko-KR" sz="1100" b="1" dirty="0"/>
                <a:t>, </a:t>
              </a:r>
              <a:r>
                <a:rPr lang="ko-KR" altLang="en-US" sz="1100" b="1" dirty="0"/>
                <a:t>효율 저하</a:t>
              </a:r>
              <a:r>
                <a:rPr lang="en-US" altLang="ko-KR" sz="1100" b="1" dirty="0"/>
                <a:t>, </a:t>
              </a:r>
              <a:r>
                <a:rPr lang="ko-KR" altLang="en-US" sz="1100" b="1" dirty="0"/>
                <a:t>와류 간섭 손실 등을 종합 고려해 </a:t>
              </a:r>
              <a:r>
                <a:rPr lang="en-US" altLang="ko-KR" sz="1100" b="1" dirty="0"/>
                <a:t>124%</a:t>
              </a:r>
              <a:r>
                <a:rPr lang="ko-KR" altLang="en-US" sz="1100" b="1" dirty="0"/>
                <a:t>를 적용</a:t>
              </a:r>
              <a:r>
                <a:rPr lang="en-US" altLang="ko-KR" sz="1100" b="1" dirty="0"/>
                <a:t>(1.6</a:t>
              </a:r>
              <a:r>
                <a:rPr lang="ko-KR" altLang="en-US" sz="1100" b="1" dirty="0"/>
                <a:t>배 적용</a:t>
              </a:r>
              <a:r>
                <a:rPr lang="en-US" altLang="ko-KR" sz="1100" b="1" dirty="0"/>
                <a:t>)</a:t>
              </a:r>
              <a:r>
                <a:rPr lang="en-US" altLang="ko-KR" sz="1100" b="1" baseline="30000" dirty="0"/>
                <a:t>[1~3]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82DEDAF9-AE1D-A9E8-BFAD-CC6DACF14240}"/>
                </a:ext>
              </a:extLst>
            </p:cNvPr>
            <p:cNvSpPr/>
            <p:nvPr/>
          </p:nvSpPr>
          <p:spPr>
            <a:xfrm>
              <a:off x="964454" y="4236967"/>
              <a:ext cx="2520280" cy="461346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추진 소비전력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=334W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35608614-A4C5-EA40-E706-FEA3C3AF4F5A}"/>
                </a:ext>
              </a:extLst>
            </p:cNvPr>
            <p:cNvCxnSpPr>
              <a:cxnSpLocks/>
              <a:stCxn id="7" idx="2"/>
              <a:endCxn id="17" idx="0"/>
            </p:cNvCxnSpPr>
            <p:nvPr/>
          </p:nvCxnSpPr>
          <p:spPr>
            <a:xfrm>
              <a:off x="2224594" y="3876337"/>
              <a:ext cx="0" cy="3606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7142282-15DC-906A-A49E-ED84023C9DEC}"/>
                </a:ext>
              </a:extLst>
            </p:cNvPr>
            <p:cNvSpPr/>
            <p:nvPr/>
          </p:nvSpPr>
          <p:spPr>
            <a:xfrm>
              <a:off x="964454" y="5568679"/>
              <a:ext cx="2520280" cy="373433"/>
            </a:xfrm>
            <a:prstGeom prst="round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err="1">
                  <a:solidFill>
                    <a:schemeClr val="tx1"/>
                  </a:solidFill>
                </a:rPr>
                <a:t>호버링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 총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400" b="1" dirty="0">
                  <a:solidFill>
                    <a:schemeClr val="tx1"/>
                  </a:solidFill>
                </a:rPr>
                <a:t>소비전력</a:t>
              </a:r>
              <a:r>
                <a:rPr lang="en-US" altLang="ko-KR" sz="1400" b="1" dirty="0">
                  <a:solidFill>
                    <a:schemeClr val="tx1"/>
                  </a:solidFill>
                </a:rPr>
                <a:t>=355W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F81FEF5F-6204-F0CD-A220-1AB64A8E2478}"/>
                </a:ext>
              </a:extLst>
            </p:cNvPr>
            <p:cNvCxnSpPr>
              <a:cxnSpLocks/>
              <a:stCxn id="17" idx="2"/>
              <a:endCxn id="22" idx="0"/>
            </p:cNvCxnSpPr>
            <p:nvPr/>
          </p:nvCxnSpPr>
          <p:spPr>
            <a:xfrm>
              <a:off x="2224594" y="4698313"/>
              <a:ext cx="0" cy="8703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675880-1120-3F55-28CF-8CA73BF72C92}"/>
                </a:ext>
              </a:extLst>
            </p:cNvPr>
            <p:cNvSpPr txBox="1"/>
            <p:nvPr/>
          </p:nvSpPr>
          <p:spPr>
            <a:xfrm>
              <a:off x="2207568" y="4701526"/>
              <a:ext cx="208823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/>
                <a:t>항전 소비 전력</a:t>
              </a:r>
              <a:r>
                <a:rPr lang="en-US" altLang="ko-KR" sz="1100" b="1" dirty="0"/>
                <a:t>(</a:t>
              </a:r>
              <a:r>
                <a:rPr lang="ko-KR" altLang="en-US" sz="1100" b="1" dirty="0"/>
                <a:t>실측</a:t>
              </a:r>
              <a:r>
                <a:rPr lang="en-US" altLang="ko-KR" sz="1100" b="1" dirty="0"/>
                <a:t>=21W)</a:t>
              </a:r>
            </a:p>
            <a:p>
              <a:r>
                <a:rPr lang="en-US" altLang="ko-KR" sz="1100" b="1" dirty="0"/>
                <a:t>+Jetson </a:t>
              </a:r>
              <a:r>
                <a:rPr lang="ko-KR" altLang="en-US" sz="1100" b="1" dirty="0"/>
                <a:t>보드 소모전력 </a:t>
              </a:r>
              <a:r>
                <a:rPr lang="en-US" altLang="ko-KR" sz="1100" b="1" dirty="0"/>
                <a:t>15W</a:t>
              </a:r>
            </a:p>
            <a:p>
              <a:r>
                <a:rPr lang="en-US" altLang="ko-KR" sz="1100" b="1" dirty="0"/>
                <a:t>+</a:t>
              </a:r>
              <a:r>
                <a:rPr lang="ko-KR" altLang="en-US" sz="1100" b="1" dirty="0" err="1"/>
                <a:t>짐벌카메라</a:t>
              </a:r>
              <a:r>
                <a:rPr lang="ko-KR" altLang="en-US" sz="1100" b="1" dirty="0"/>
                <a:t> 및 비행제어 </a:t>
              </a:r>
              <a:r>
                <a:rPr lang="en-US" altLang="ko-KR" sz="1100" b="1" dirty="0"/>
                <a:t>2W</a:t>
              </a:r>
            </a:p>
            <a:p>
              <a:r>
                <a:rPr lang="en-US" altLang="ko-KR" sz="1100" b="1" dirty="0"/>
                <a:t>+LED 4W</a:t>
              </a:r>
              <a:endParaRPr lang="ko-KR" altLang="en-US" sz="11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00472E5-214A-7196-2A53-C584BC72369A}"/>
                </a:ext>
              </a:extLst>
            </p:cNvPr>
            <p:cNvSpPr txBox="1"/>
            <p:nvPr/>
          </p:nvSpPr>
          <p:spPr>
            <a:xfrm>
              <a:off x="6680375" y="2230942"/>
              <a:ext cx="1872207" cy="689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>
                  <a:solidFill>
                    <a:srgbClr val="0000FF"/>
                  </a:solidFill>
                </a:rPr>
                <a:t>배터리 제조 편차 </a:t>
              </a:r>
              <a:r>
                <a:rPr lang="en-US" altLang="ko-KR" sz="1100" b="1" dirty="0">
                  <a:solidFill>
                    <a:srgbClr val="0000FF"/>
                  </a:solidFill>
                </a:rPr>
                <a:t>95%</a:t>
              </a:r>
              <a:r>
                <a:rPr lang="en-US" altLang="ko-KR" sz="1100" b="1" baseline="30000" dirty="0">
                  <a:solidFill>
                    <a:srgbClr val="0000FF"/>
                  </a:solidFill>
                </a:rPr>
                <a:t>[4]</a:t>
              </a:r>
            </a:p>
            <a:p>
              <a:r>
                <a:rPr lang="ko-KR" altLang="en-US" sz="1100" b="1" dirty="0">
                  <a:solidFill>
                    <a:srgbClr val="0000FF"/>
                  </a:solidFill>
                </a:rPr>
                <a:t>배터리 열화 </a:t>
              </a:r>
              <a:r>
                <a:rPr lang="en-US" altLang="ko-KR" sz="1100" b="1" dirty="0">
                  <a:solidFill>
                    <a:srgbClr val="0000FF"/>
                  </a:solidFill>
                </a:rPr>
                <a:t>95% </a:t>
              </a:r>
              <a:r>
                <a:rPr lang="ko-KR" altLang="en-US" sz="1100" b="1" dirty="0">
                  <a:solidFill>
                    <a:srgbClr val="0000FF"/>
                  </a:solidFill>
                </a:rPr>
                <a:t>적용</a:t>
              </a:r>
              <a:r>
                <a:rPr lang="en-US" altLang="ko-KR" sz="1100" b="1" baseline="30000" dirty="0">
                  <a:solidFill>
                    <a:srgbClr val="0000FF"/>
                  </a:solidFill>
                </a:rPr>
                <a:t>[5]</a:t>
              </a:r>
            </a:p>
            <a:p>
              <a:r>
                <a:rPr lang="ko-KR" altLang="en-US" sz="1100" b="1" dirty="0">
                  <a:solidFill>
                    <a:srgbClr val="0000FF"/>
                  </a:solidFill>
                </a:rPr>
                <a:t>온도 및 </a:t>
              </a:r>
              <a:r>
                <a:rPr lang="en-US" altLang="ko-KR" sz="1100" b="1" dirty="0">
                  <a:solidFill>
                    <a:srgbClr val="0000FF"/>
                  </a:solidFill>
                </a:rPr>
                <a:t>6C</a:t>
              </a:r>
              <a:r>
                <a:rPr lang="ko-KR" altLang="en-US" sz="1100" b="1" dirty="0" err="1">
                  <a:solidFill>
                    <a:srgbClr val="0000FF"/>
                  </a:solidFill>
                </a:rPr>
                <a:t>방전율</a:t>
              </a:r>
              <a:r>
                <a:rPr lang="ko-KR" altLang="en-US" sz="1100" b="1" dirty="0">
                  <a:solidFill>
                    <a:srgbClr val="0000FF"/>
                  </a:solidFill>
                </a:rPr>
                <a:t> 영향 </a:t>
              </a:r>
              <a:r>
                <a:rPr lang="en-US" altLang="ko-KR" sz="1100" b="1" dirty="0">
                  <a:solidFill>
                    <a:srgbClr val="0000FF"/>
                  </a:solidFill>
                </a:rPr>
                <a:t>93%</a:t>
              </a:r>
              <a:r>
                <a:rPr lang="en-US" altLang="ko-KR" sz="1100" b="1" baseline="30000" dirty="0">
                  <a:solidFill>
                    <a:srgbClr val="0000FF"/>
                  </a:solidFill>
                </a:rPr>
                <a:t>[6]</a:t>
              </a:r>
              <a:endParaRPr lang="ko-KR" altLang="en-US" sz="1100" b="1" baseline="30000" dirty="0">
                <a:solidFill>
                  <a:srgbClr val="0000FF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17546AD-C899-200F-71A7-73C31D340AF6}"/>
                </a:ext>
              </a:extLst>
            </p:cNvPr>
            <p:cNvSpPr txBox="1"/>
            <p:nvPr/>
          </p:nvSpPr>
          <p:spPr>
            <a:xfrm>
              <a:off x="6680375" y="3652048"/>
              <a:ext cx="17780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SOC20~100%</a:t>
              </a:r>
              <a:r>
                <a:rPr lang="ko-KR" altLang="en-US" sz="1100" b="1" dirty="0"/>
                <a:t>까지만 사용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FF7C3244-3F41-A5C7-83C4-A80D1E72662C}"/>
                </a:ext>
              </a:extLst>
            </p:cNvPr>
            <p:cNvGrpSpPr/>
            <p:nvPr/>
          </p:nvGrpSpPr>
          <p:grpSpPr>
            <a:xfrm>
              <a:off x="5287895" y="1431126"/>
              <a:ext cx="2808311" cy="4446147"/>
              <a:chOff x="5303913" y="1401513"/>
              <a:chExt cx="2520280" cy="3504450"/>
            </a:xfrm>
          </p:grpSpPr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36A30C97-2634-7E72-ADA1-13A3DFF386E9}"/>
                  </a:ext>
                </a:extLst>
              </p:cNvPr>
              <p:cNvSpPr/>
              <p:nvPr/>
            </p:nvSpPr>
            <p:spPr>
              <a:xfrm>
                <a:off x="5303913" y="1401513"/>
                <a:ext cx="2520280" cy="577256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Nominal Battery Energy</a:t>
                </a:r>
              </a:p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배터리 용량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= 93Wh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(22.2V x 4,200mAh)</a:t>
                </a:r>
                <a:endParaRPr lang="ko-KR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E39350EF-787A-9FD2-F617-E007F2981666}"/>
                  </a:ext>
                </a:extLst>
              </p:cNvPr>
              <p:cNvSpPr/>
              <p:nvPr/>
            </p:nvSpPr>
            <p:spPr>
              <a:xfrm>
                <a:off x="5303913" y="2575552"/>
                <a:ext cx="2520280" cy="481248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Effective Usable Energy</a:t>
                </a:r>
              </a:p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실제 용량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= 78.1Wh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C1F9003C-9FBE-77F7-CF6A-8E471CE5787F}"/>
                  </a:ext>
                </a:extLst>
              </p:cNvPr>
              <p:cNvCxnSpPr>
                <a:cxnSpLocks/>
                <a:stCxn id="33" idx="2"/>
                <a:endCxn id="34" idx="0"/>
              </p:cNvCxnSpPr>
              <p:nvPr/>
            </p:nvCxnSpPr>
            <p:spPr>
              <a:xfrm>
                <a:off x="6564053" y="1978769"/>
                <a:ext cx="0" cy="5967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6F87FC34-E46A-4F38-42C0-BC4B24F3A905}"/>
                  </a:ext>
                </a:extLst>
              </p:cNvPr>
              <p:cNvSpPr/>
              <p:nvPr/>
            </p:nvSpPr>
            <p:spPr>
              <a:xfrm>
                <a:off x="5303913" y="3497755"/>
                <a:ext cx="2520280" cy="481248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Usable Energy with 20% SOC</a:t>
                </a:r>
              </a:p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가용 용량 </a:t>
                </a:r>
                <a:r>
                  <a:rPr lang="en-US" altLang="ko-KR" sz="1400" b="1" dirty="0">
                    <a:solidFill>
                      <a:schemeClr val="tx1"/>
                    </a:solidFill>
                  </a:rPr>
                  <a:t>= 62.4Wh</a:t>
                </a:r>
                <a:r>
                  <a:rPr lang="ko-KR" altLang="en-US" sz="1400" b="1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0C384D23-FA40-FDDB-C0EF-594154A10F75}"/>
                  </a:ext>
                </a:extLst>
              </p:cNvPr>
              <p:cNvCxnSpPr>
                <a:cxnSpLocks/>
                <a:stCxn id="34" idx="2"/>
                <a:endCxn id="40" idx="0"/>
              </p:cNvCxnSpPr>
              <p:nvPr/>
            </p:nvCxnSpPr>
            <p:spPr>
              <a:xfrm>
                <a:off x="6564053" y="3056799"/>
                <a:ext cx="0" cy="4409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사각형: 둥근 모서리 45">
                <a:extLst>
                  <a:ext uri="{FF2B5EF4-FFF2-40B4-BE49-F238E27FC236}">
                    <a16:creationId xmlns:a16="http://schemas.microsoft.com/office/drawing/2014/main" id="{38002855-4B8C-57F1-CF29-28055224B372}"/>
                  </a:ext>
                </a:extLst>
              </p:cNvPr>
              <p:cNvSpPr/>
              <p:nvPr/>
            </p:nvSpPr>
            <p:spPr>
              <a:xfrm>
                <a:off x="5303913" y="4240330"/>
                <a:ext cx="2520280" cy="665633"/>
              </a:xfrm>
              <a:prstGeom prst="round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b="1" dirty="0">
                    <a:solidFill>
                      <a:schemeClr val="tx1"/>
                    </a:solidFill>
                  </a:rPr>
                  <a:t>비행시간</a:t>
                </a:r>
                <a:endParaRPr lang="en-US" altLang="ko-K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=62.4Wh/355W</a:t>
                </a:r>
              </a:p>
              <a:p>
                <a:pPr algn="ctr"/>
                <a:r>
                  <a:rPr lang="en-US" altLang="ko-KR" sz="1400" b="1" dirty="0">
                    <a:solidFill>
                      <a:schemeClr val="tx1"/>
                    </a:solidFill>
                  </a:rPr>
                  <a:t>=0.176h=</a:t>
                </a:r>
                <a:r>
                  <a:rPr lang="en-US" altLang="ko-KR" sz="1400" b="1" dirty="0">
                    <a:solidFill>
                      <a:srgbClr val="0000FF"/>
                    </a:solidFill>
                  </a:rPr>
                  <a:t>10.5min</a:t>
                </a:r>
                <a:endParaRPr lang="ko-KR" altLang="en-US" sz="1400" b="1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47" name="직선 화살표 연결선 46">
                <a:extLst>
                  <a:ext uri="{FF2B5EF4-FFF2-40B4-BE49-F238E27FC236}">
                    <a16:creationId xmlns:a16="http://schemas.microsoft.com/office/drawing/2014/main" id="{8674ABAD-0BD0-9A37-D0BB-CC7677477F6C}"/>
                  </a:ext>
                </a:extLst>
              </p:cNvPr>
              <p:cNvCxnSpPr>
                <a:cxnSpLocks/>
                <a:stCxn id="40" idx="2"/>
                <a:endCxn id="46" idx="0"/>
              </p:cNvCxnSpPr>
              <p:nvPr/>
            </p:nvCxnSpPr>
            <p:spPr>
              <a:xfrm>
                <a:off x="6564053" y="3979003"/>
                <a:ext cx="0" cy="2613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FC2ACA9-408D-4F62-217F-6DB3C225D40B}"/>
                </a:ext>
              </a:extLst>
            </p:cNvPr>
            <p:cNvSpPr txBox="1"/>
            <p:nvPr/>
          </p:nvSpPr>
          <p:spPr>
            <a:xfrm>
              <a:off x="2207568" y="3924127"/>
              <a:ext cx="15121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/>
                <a:t>모터</a:t>
              </a:r>
              <a:r>
                <a:rPr lang="en-US" altLang="ko-KR" sz="1100" b="1" dirty="0"/>
                <a:t>-</a:t>
              </a:r>
              <a:r>
                <a:rPr lang="ko-KR" altLang="en-US" sz="1100" b="1" dirty="0" err="1"/>
                <a:t>프롭</a:t>
              </a:r>
              <a:r>
                <a:rPr lang="ko-KR" altLang="en-US" sz="1100" b="1" dirty="0"/>
                <a:t> 데이터시트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5B12BF-6701-A408-2AE3-DD1315A3156E}"/>
                </a:ext>
              </a:extLst>
            </p:cNvPr>
            <p:cNvSpPr txBox="1"/>
            <p:nvPr/>
          </p:nvSpPr>
          <p:spPr>
            <a:xfrm>
              <a:off x="2097815" y="5951765"/>
              <a:ext cx="1731671" cy="265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b="1" dirty="0"/>
                <a:t>실측</a:t>
              </a:r>
              <a:r>
                <a:rPr lang="en-US" altLang="ko-KR" sz="1100" b="1" dirty="0"/>
                <a:t>=380W(‘26.03.30)</a:t>
              </a:r>
              <a:endParaRPr lang="ko-KR" altLang="en-US" sz="1100" b="1" dirty="0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818EC96D-1C99-AF16-752F-F15B7FA6527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4512" y="1083735"/>
            <a:ext cx="1075589" cy="23384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FA7AF03-005F-6B37-85F2-BAD380EC70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2297" y="1073324"/>
            <a:ext cx="1761660" cy="23488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A65A4A-846C-C0F3-9240-74D4E797DE0C}"/>
              </a:ext>
            </a:extLst>
          </p:cNvPr>
          <p:cNvSpPr txBox="1"/>
          <p:nvPr/>
        </p:nvSpPr>
        <p:spPr>
          <a:xfrm>
            <a:off x="8912297" y="3441075"/>
            <a:ext cx="286780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10</a:t>
            </a:r>
            <a:r>
              <a:rPr lang="ko-KR" altLang="en-US" sz="1100" dirty="0"/>
              <a:t>분 비행 후 배터리 잔량 </a:t>
            </a:r>
            <a:r>
              <a:rPr lang="en-US" altLang="ko-KR" sz="1100" dirty="0"/>
              <a:t>: SOC 24%</a:t>
            </a:r>
          </a:p>
          <a:p>
            <a:r>
              <a:rPr lang="ko-KR" altLang="en-US" sz="1100" dirty="0"/>
              <a:t>셀당 전압 </a:t>
            </a:r>
            <a:r>
              <a:rPr lang="en-US" altLang="ko-KR" sz="1100" dirty="0"/>
              <a:t>= 3.75~3.78V</a:t>
            </a:r>
            <a:endParaRPr lang="ko-KR" altLang="en-US" sz="11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37FE51F8-9F26-E3AA-13B2-08E2A7CED70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08368" y="3936241"/>
            <a:ext cx="1937969" cy="16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92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7F1B914-E4F2-F3D1-A6F8-1DC090528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1800" dirty="0"/>
              <a:t>연구 목적 </a:t>
            </a:r>
            <a:r>
              <a:rPr lang="en-US" altLang="ko-KR" sz="1800" dirty="0"/>
              <a:t>: AI</a:t>
            </a:r>
            <a:r>
              <a:rPr lang="ko-KR" altLang="en-US" sz="1800" dirty="0"/>
              <a:t>자율비행 알고리즘 연구를 위한 공용 </a:t>
            </a:r>
            <a:r>
              <a:rPr lang="ko-KR" altLang="en-US" sz="1800" dirty="0" err="1"/>
              <a:t>드론</a:t>
            </a:r>
            <a:r>
              <a:rPr lang="ko-KR" altLang="en-US" sz="1800" dirty="0"/>
              <a:t> 플랫폼 설계</a:t>
            </a:r>
            <a:endParaRPr lang="en-US" altLang="ko-KR" sz="1800" dirty="0"/>
          </a:p>
          <a:p>
            <a:pPr lvl="1"/>
            <a:r>
              <a:rPr lang="en-US" altLang="ko-KR" sz="1600" dirty="0"/>
              <a:t>Project name : CORE(Cognitive Robotics for Exploration)</a:t>
            </a:r>
          </a:p>
          <a:p>
            <a:r>
              <a:rPr lang="ko-KR" altLang="en-US" sz="1800" dirty="0"/>
              <a:t>연구 목표</a:t>
            </a:r>
            <a:endParaRPr lang="en-US" altLang="ko-KR" sz="1800" dirty="0"/>
          </a:p>
          <a:p>
            <a:pPr lvl="1"/>
            <a:r>
              <a:rPr lang="en-US" altLang="ko-KR" sz="1600" dirty="0"/>
              <a:t>GNSS </a:t>
            </a:r>
            <a:r>
              <a:rPr lang="ko-KR" altLang="en-US" sz="1600" dirty="0"/>
              <a:t>음영 환경에서 자율비행을 위한 센서가 탑재된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설계</a:t>
            </a:r>
            <a:endParaRPr lang="en-US" altLang="ko-KR" sz="1600" dirty="0"/>
          </a:p>
          <a:p>
            <a:pPr lvl="1"/>
            <a:r>
              <a:rPr lang="en-US" altLang="ko-KR" sz="1600" dirty="0"/>
              <a:t>AI </a:t>
            </a:r>
            <a:r>
              <a:rPr lang="ko-KR" altLang="en-US" sz="1600" dirty="0"/>
              <a:t>연산이 가능한 </a:t>
            </a:r>
            <a:r>
              <a:rPr lang="en-US" altLang="ko-KR" sz="1600" dirty="0"/>
              <a:t>Onboard</a:t>
            </a:r>
            <a:r>
              <a:rPr lang="ko-KR" altLang="en-US" sz="1600" dirty="0"/>
              <a:t> </a:t>
            </a:r>
            <a:r>
              <a:rPr lang="en-US" altLang="ko-KR" sz="1600" dirty="0"/>
              <a:t>Edge computing </a:t>
            </a:r>
            <a:r>
              <a:rPr lang="ko-KR" altLang="en-US" sz="1600" dirty="0"/>
              <a:t>시스템 구축</a:t>
            </a:r>
            <a:endParaRPr lang="en-US" altLang="ko-KR" sz="1600" dirty="0"/>
          </a:p>
          <a:p>
            <a:pPr lvl="1"/>
            <a:r>
              <a:rPr lang="ko-KR" altLang="en-US" sz="1600" dirty="0"/>
              <a:t>운용 편의성과 확장성을 고려한 설계</a:t>
            </a:r>
            <a:endParaRPr lang="en-US" altLang="ko-KR" sz="1600" dirty="0"/>
          </a:p>
          <a:p>
            <a:pPr lvl="1"/>
            <a:r>
              <a:rPr lang="ko-KR" altLang="en-US" sz="1600" dirty="0"/>
              <a:t>소형</a:t>
            </a:r>
            <a:r>
              <a:rPr lang="en-US" altLang="ko-KR" sz="1600" dirty="0"/>
              <a:t>-</a:t>
            </a:r>
            <a:r>
              <a:rPr lang="ko-KR" altLang="en-US" sz="1600" dirty="0"/>
              <a:t>경량</a:t>
            </a:r>
            <a:r>
              <a:rPr lang="en-US" altLang="ko-KR" sz="1600" dirty="0"/>
              <a:t>-</a:t>
            </a:r>
            <a:r>
              <a:rPr lang="ko-KR" altLang="en-US" sz="1600" dirty="0">
                <a:solidFill>
                  <a:srgbClr val="0000FF"/>
                </a:solidFill>
              </a:rPr>
              <a:t>저비용</a:t>
            </a:r>
            <a:r>
              <a:rPr lang="ko-KR" altLang="en-US" sz="1600" dirty="0"/>
              <a:t>의 교육</a:t>
            </a:r>
            <a:r>
              <a:rPr lang="en-US" altLang="ko-KR" sz="1600" dirty="0"/>
              <a:t>/</a:t>
            </a:r>
            <a:r>
              <a:rPr lang="ko-KR" altLang="en-US" sz="1600" dirty="0"/>
              <a:t>연구용 플랫폼 설계</a:t>
            </a:r>
            <a:endParaRPr lang="en-US" altLang="ko-KR" sz="1600" dirty="0"/>
          </a:p>
          <a:p>
            <a:r>
              <a:rPr lang="ko-KR" altLang="en-US" sz="1800" dirty="0"/>
              <a:t>기대 효과</a:t>
            </a:r>
            <a:endParaRPr lang="en-US" altLang="ko-KR" sz="1800" dirty="0"/>
          </a:p>
          <a:p>
            <a:pPr lvl="1"/>
            <a:r>
              <a:rPr lang="ko-KR" altLang="en-US" sz="1600" dirty="0"/>
              <a:t>비행제어소프트웨어 개발 및 검증</a:t>
            </a:r>
            <a:endParaRPr lang="en-US" altLang="ko-KR" sz="1600" dirty="0"/>
          </a:p>
          <a:p>
            <a:pPr lvl="1"/>
            <a:r>
              <a:rPr lang="ko-KR" altLang="en-US" sz="1600" dirty="0"/>
              <a:t>실내 항법</a:t>
            </a:r>
            <a:r>
              <a:rPr lang="en-US" altLang="ko-KR" sz="1600" dirty="0"/>
              <a:t>(SLAM)</a:t>
            </a:r>
            <a:r>
              <a:rPr lang="ko-KR" altLang="en-US" sz="1600" dirty="0"/>
              <a:t> 및 충돌회피 알고리즘 탑재 검증</a:t>
            </a:r>
            <a:endParaRPr lang="en-US" altLang="ko-KR" sz="1600" dirty="0"/>
          </a:p>
          <a:p>
            <a:pPr lvl="1"/>
            <a:r>
              <a:rPr lang="en-US" altLang="ko-KR" sz="1600" dirty="0"/>
              <a:t>AI </a:t>
            </a:r>
            <a:r>
              <a:rPr lang="ko-KR" altLang="en-US" sz="1600" dirty="0"/>
              <a:t>기반 영상인식 알고리즘 탑재 검증</a:t>
            </a:r>
            <a:endParaRPr lang="en-US" altLang="ko-KR" sz="1600" dirty="0"/>
          </a:p>
          <a:p>
            <a:pPr lvl="1"/>
            <a:r>
              <a:rPr lang="ko-KR" altLang="en-US" sz="1600" dirty="0"/>
              <a:t>실내</a:t>
            </a:r>
            <a:r>
              <a:rPr lang="en-US" altLang="ko-KR" sz="1600" dirty="0"/>
              <a:t>/</a:t>
            </a:r>
            <a:r>
              <a:rPr lang="ko-KR" altLang="en-US" sz="1600" dirty="0"/>
              <a:t>외 군집비행 알고리즘 검증</a:t>
            </a:r>
            <a:endParaRPr lang="en-US" altLang="ko-KR" sz="1600" dirty="0"/>
          </a:p>
          <a:p>
            <a:pPr lvl="1"/>
            <a:r>
              <a:rPr lang="ko-KR" altLang="en-US" sz="1600" dirty="0"/>
              <a:t>효율적인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</a:t>
            </a:r>
            <a:r>
              <a:rPr lang="en-US" altLang="ko-KR" sz="1600" dirty="0"/>
              <a:t>SW </a:t>
            </a:r>
            <a:r>
              <a:rPr lang="ko-KR" altLang="en-US" sz="1600" dirty="0"/>
              <a:t>교육</a:t>
            </a:r>
            <a:r>
              <a:rPr lang="en-US" altLang="ko-KR" sz="1600" dirty="0"/>
              <a:t>/</a:t>
            </a:r>
            <a:r>
              <a:rPr lang="ko-KR" altLang="en-US" sz="1600" dirty="0"/>
              <a:t>연구</a:t>
            </a:r>
            <a:endParaRPr lang="en-US" altLang="ko-KR" sz="1600" dirty="0"/>
          </a:p>
          <a:p>
            <a:pPr lvl="1"/>
            <a:endParaRPr lang="ko-KR" altLang="en-US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287E955-6EC8-3FDB-8D0D-9BBB085CC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참고문헌 예시</a:t>
            </a:r>
            <a:r>
              <a:rPr lang="en-US" altLang="ko-KR" dirty="0"/>
              <a:t>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7954B8-60E0-9C13-C7B1-79A0AB37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272" y="2790798"/>
            <a:ext cx="2812555" cy="26668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07DE1D-F7A1-6C48-4539-0DE07B2EB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92008" y="701717"/>
            <a:ext cx="2011254" cy="1633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9FA087-D12B-2A4E-0B32-B3159D5B4D91}"/>
              </a:ext>
            </a:extLst>
          </p:cNvPr>
          <p:cNvSpPr txBox="1"/>
          <p:nvPr/>
        </p:nvSpPr>
        <p:spPr>
          <a:xfrm>
            <a:off x="7320136" y="5534154"/>
            <a:ext cx="4871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Vision-based obstacle avoidance technique using optical flow</a:t>
            </a:r>
            <a:r>
              <a:rPr lang="en-US" altLang="ko-KR" sz="1200" baseline="30000" dirty="0"/>
              <a:t>[3]</a:t>
            </a:r>
            <a:r>
              <a:rPr lang="en-US" altLang="ko-KR" sz="12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A247B-3A62-97CB-43B6-47AF14955043}"/>
              </a:ext>
            </a:extLst>
          </p:cNvPr>
          <p:cNvSpPr txBox="1"/>
          <p:nvPr/>
        </p:nvSpPr>
        <p:spPr>
          <a:xfrm>
            <a:off x="623392" y="6027385"/>
            <a:ext cx="11024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[1] Flyability Elios 3, </a:t>
            </a:r>
            <a:r>
              <a:rPr lang="en-US" altLang="ko-KR" sz="1000" dirty="0">
                <a:hlinkClick r:id="rId4"/>
              </a:rPr>
              <a:t>https://www.flyability.com</a:t>
            </a:r>
            <a:br>
              <a:rPr lang="en-US" altLang="ko-KR" sz="1000" dirty="0"/>
            </a:br>
            <a:r>
              <a:rPr lang="en-US" altLang="ko-KR" sz="1000" dirty="0"/>
              <a:t>[2] Ruben Veenstra et al. Autonomous Aerial Non-Destructive Testing: Ultrasound Inspection with a Commercial Quadrotor in an Unstructured Environment, arXiv:2603.04642, 2026</a:t>
            </a:r>
          </a:p>
          <a:p>
            <a:r>
              <a:rPr lang="en-US" altLang="ko-KR" sz="1000" dirty="0"/>
              <a:t>[3] H. -Y. Lin and X. -Z. Peng, "Autonomous Quadrotor Navigation With Vision Based Obstacle Avoidance and Path Planning," in IEEE Access, vol. 9, pp. 102450-102459, 2021, </a:t>
            </a:r>
            <a:r>
              <a:rPr lang="en-US" altLang="ko-KR" sz="1000" dirty="0" err="1"/>
              <a:t>doi</a:t>
            </a:r>
            <a:r>
              <a:rPr lang="en-US" altLang="ko-KR" sz="1000" dirty="0"/>
              <a:t>: 10.1109/ACCESS.2021.3097945.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88D265-06FC-DEA4-5A08-9B51DE554C8E}"/>
              </a:ext>
            </a:extLst>
          </p:cNvPr>
          <p:cNvSpPr txBox="1"/>
          <p:nvPr/>
        </p:nvSpPr>
        <p:spPr>
          <a:xfrm>
            <a:off x="7464152" y="2411674"/>
            <a:ext cx="4657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Elios 3 Mapping and inspection indoor drone</a:t>
            </a:r>
            <a:r>
              <a:rPr lang="en-US" altLang="ko-KR" sz="1200" baseline="30000" dirty="0"/>
              <a:t>[1][2]</a:t>
            </a:r>
            <a:endParaRPr lang="ko-KR" altLang="en-US" sz="1200" baseline="30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BDF5F0C-C843-92B7-4801-24E7CC1B34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3262" y="645614"/>
            <a:ext cx="2658483" cy="176474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8C979D-C673-AA57-5208-5FF5BF1856DC}"/>
              </a:ext>
            </a:extLst>
          </p:cNvPr>
          <p:cNvSpPr txBox="1"/>
          <p:nvPr/>
        </p:nvSpPr>
        <p:spPr>
          <a:xfrm>
            <a:off x="4295800" y="3132433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è"/>
            </a:pPr>
            <a:r>
              <a:rPr lang="en-US" altLang="ko-KR" b="1" dirty="0">
                <a:solidFill>
                  <a:srgbClr val="0000FF"/>
                </a:solidFill>
                <a:sym typeface="Wingdings" panose="05000000000000000000" pitchFamily="2" charset="2"/>
              </a:rPr>
              <a:t>“</a:t>
            </a:r>
            <a:r>
              <a:rPr lang="ko-KR" altLang="en-US" b="1" dirty="0">
                <a:solidFill>
                  <a:srgbClr val="0000FF"/>
                </a:solidFill>
              </a:rPr>
              <a:t>자율비행 기술개발에 기여</a:t>
            </a:r>
            <a:r>
              <a:rPr lang="en-US" altLang="ko-KR" b="1" dirty="0">
                <a:solidFill>
                  <a:srgbClr val="0000FF"/>
                </a:solidFill>
              </a:rPr>
              <a:t>”</a:t>
            </a:r>
          </a:p>
          <a:p>
            <a:pPr algn="ctr"/>
            <a:r>
              <a:rPr lang="en-US" altLang="ko-KR" b="1" dirty="0">
                <a:solidFill>
                  <a:srgbClr val="0000FF"/>
                </a:solidFill>
              </a:rPr>
              <a:t>(SW</a:t>
            </a:r>
            <a:r>
              <a:rPr lang="ko-KR" altLang="en-US" b="1" dirty="0">
                <a:solidFill>
                  <a:srgbClr val="0000FF"/>
                </a:solidFill>
              </a:rPr>
              <a:t>연구에 집중</a:t>
            </a:r>
            <a:r>
              <a:rPr lang="en-US" altLang="ko-KR" b="1" dirty="0">
                <a:solidFill>
                  <a:srgbClr val="0000FF"/>
                </a:solidFill>
              </a:rPr>
              <a:t>)</a:t>
            </a:r>
            <a:endParaRPr lang="ko-KR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4442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첨부1_DRONE 프로토타입 개발 계획(안)_20150318</Template>
  <TotalTime>20985</TotalTime>
  <Words>766</Words>
  <Application>Microsoft Office PowerPoint</Application>
  <PresentationFormat>와이드스크린</PresentationFormat>
  <Paragraphs>73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2" baseType="lpstr">
      <vt:lpstr>Wingdings</vt:lpstr>
      <vt:lpstr>Calibri</vt:lpstr>
      <vt:lpstr>나눔바른고딕</vt:lpstr>
      <vt:lpstr>Arial</vt:lpstr>
      <vt:lpstr>HY견고딕</vt:lpstr>
      <vt:lpstr>맑은 고딕</vt:lpstr>
      <vt:lpstr>Calibri Light</vt:lpstr>
      <vt:lpstr>1_Office 테마</vt:lpstr>
      <vt:lpstr>2_Office 테마</vt:lpstr>
      <vt:lpstr>Mid-term project</vt:lpstr>
      <vt:lpstr>참고문헌 예시1</vt:lpstr>
      <vt:lpstr>참고문헌 예시2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Jungho</dc:creator>
  <cp:keywords>Jungho Moon</cp:keywords>
  <cp:lastModifiedBy>문정호</cp:lastModifiedBy>
  <cp:revision>3526</cp:revision>
  <cp:lastPrinted>2019-02-07T16:10:10Z</cp:lastPrinted>
  <dcterms:created xsi:type="dcterms:W3CDTF">2015-03-20T03:55:56Z</dcterms:created>
  <dcterms:modified xsi:type="dcterms:W3CDTF">2026-04-12T11:45:47Z</dcterms:modified>
</cp:coreProperties>
</file>